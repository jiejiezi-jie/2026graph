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387" r:id="rId5"/>
    <p:sldId id="395" r:id="rId6"/>
    <p:sldId id="396" r:id="rId7"/>
    <p:sldId id="398" r:id="rId8"/>
    <p:sldId id="399" r:id="rId9"/>
    <p:sldId id="400" r:id="rId10"/>
    <p:sldId id="38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5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104"/>
      </p:cViewPr>
      <p:guideLst>
        <p:guide orient="horz" pos="2095"/>
        <p:guide pos="3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047" y="124792"/>
            <a:ext cx="2348489" cy="733903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6019165" y="-792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8540" y="311540"/>
            <a:ext cx="6234920" cy="6234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2" b="14592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汇报人：汪予涵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指导老师：王鑫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Medical Adaptive Graph RAG：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面向医疗健康领域的自适应图检索增强问答系统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Medical Adaptive Graph RAG: Adaptive Graph Retrieval‑Augmented Question‑Answering System for Healthcare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15" y="531723"/>
            <a:ext cx="4906970" cy="1533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-635" y="0"/>
            <a:ext cx="12192635" cy="6859270"/>
          </a:xfrm>
          <a:custGeom>
            <a:avLst/>
            <a:gdLst>
              <a:gd name="connisteX0" fmla="*/ 0 w 12192635"/>
              <a:gd name="connsiteY0" fmla="*/ 0 h 6859270"/>
              <a:gd name="connisteX1" fmla="*/ 12192635 w 12192635"/>
              <a:gd name="connsiteY1" fmla="*/ 0 h 6859270"/>
              <a:gd name="connisteX2" fmla="*/ 12192635 w 12192635"/>
              <a:gd name="connsiteY2" fmla="*/ 6859270 h 6859270"/>
              <a:gd name="connisteX3" fmla="*/ 0 w 12192635"/>
              <a:gd name="connsiteY3" fmla="*/ 6859270 h 6859270"/>
              <a:gd name="connisteX4" fmla="*/ 0 w 12192635"/>
              <a:gd name="connsiteY4" fmla="*/ 0 h 68592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92635" h="6859270">
                <a:moveTo>
                  <a:pt x="0" y="0"/>
                </a:moveTo>
                <a:lnTo>
                  <a:pt x="12192635" y="0"/>
                </a:lnTo>
                <a:lnTo>
                  <a:pt x="12192635" y="6859270"/>
                </a:lnTo>
                <a:lnTo>
                  <a:pt x="0" y="68592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250825" y="99060"/>
            <a:ext cx="579120" cy="579120"/>
          </a:xfrm>
          <a:custGeom>
            <a:avLst/>
            <a:gdLst>
              <a:gd name="connisteX0" fmla="*/ 137167 w 579150"/>
              <a:gd name="connsiteY0" fmla="*/ 0 h 579227"/>
              <a:gd name="connisteX1" fmla="*/ 579150 w 579150"/>
              <a:gd name="connsiteY1" fmla="*/ 0 h 579227"/>
              <a:gd name="connisteX2" fmla="*/ 464844 w 579150"/>
              <a:gd name="connsiteY2" fmla="*/ 579227 h 579227"/>
              <a:gd name="connisteX3" fmla="*/ 0 w 579150"/>
              <a:gd name="connsiteY3" fmla="*/ 579227 h 579227"/>
              <a:gd name="connisteX4" fmla="*/ 137167 w 579150"/>
              <a:gd name="connsiteY4" fmla="*/ 0 h 579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9150" h="579227">
                <a:moveTo>
                  <a:pt x="137167" y="0"/>
                </a:moveTo>
                <a:lnTo>
                  <a:pt x="579150" y="0"/>
                </a:lnTo>
                <a:lnTo>
                  <a:pt x="464844" y="579227"/>
                </a:lnTo>
                <a:lnTo>
                  <a:pt x="0" y="579227"/>
                </a:lnTo>
                <a:lnTo>
                  <a:pt x="137167" y="0"/>
                </a:lnTo>
                <a:close/>
              </a:path>
            </a:pathLst>
          </a:custGeom>
          <a:solidFill>
            <a:srgbClr val="07549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319405" y="175260"/>
            <a:ext cx="563880" cy="556260"/>
          </a:xfrm>
          <a:custGeom>
            <a:avLst/>
            <a:gdLst>
              <a:gd name="connisteX0" fmla="*/ 518186 w 563909"/>
              <a:gd name="connsiteY0" fmla="*/ 0 h 556363"/>
              <a:gd name="connisteX1" fmla="*/ 563909 w 563909"/>
              <a:gd name="connsiteY1" fmla="*/ 0 h 556363"/>
              <a:gd name="connisteX2" fmla="*/ 449603 w 563909"/>
              <a:gd name="connsiteY2" fmla="*/ 556363 h 556363"/>
              <a:gd name="connisteX3" fmla="*/ 0 w 563909"/>
              <a:gd name="connsiteY3" fmla="*/ 556363 h 55636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63909" h="556363">
                <a:moveTo>
                  <a:pt x="518187" y="0"/>
                </a:moveTo>
                <a:lnTo>
                  <a:pt x="563909" y="0"/>
                </a:lnTo>
                <a:lnTo>
                  <a:pt x="449603" y="556363"/>
                </a:lnTo>
                <a:lnTo>
                  <a:pt x="0" y="556363"/>
                </a:lnTo>
              </a:path>
            </a:pathLst>
          </a:custGeom>
          <a:noFill/>
          <a:ln w="22863" cap="rnd">
            <a:solidFill>
              <a:srgbClr val="075494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43305" y="213360"/>
            <a:ext cx="3680460" cy="56197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3060" b="1">
                <a:solidFill>
                  <a:srgbClr val="07549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项目背景及研究方向</a:t>
            </a:r>
            <a:endParaRPr lang="zh-CN" altLang="en-US" sz="3060" b="1">
              <a:solidFill>
                <a:srgbClr val="07549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266065" y="830580"/>
            <a:ext cx="11658600" cy="0"/>
          </a:xfrm>
          <a:custGeom>
            <a:avLst/>
            <a:gdLst>
              <a:gd name="connisteX0" fmla="*/ 0 w 11659207"/>
              <a:gd name="connsiteY0" fmla="*/ 0 h 0"/>
              <a:gd name="connisteX1" fmla="*/ 11659207 w 11659207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1659207">
                <a:moveTo>
                  <a:pt x="0" y="0"/>
                </a:moveTo>
                <a:lnTo>
                  <a:pt x="11659207" y="0"/>
                </a:lnTo>
              </a:path>
            </a:pathLst>
          </a:custGeom>
          <a:solidFill>
            <a:srgbClr val="000000"/>
          </a:solidFill>
          <a:ln w="11431" cap="rnd">
            <a:solidFill>
              <a:srgbClr val="075494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266065" y="1059180"/>
            <a:ext cx="5676900" cy="518160"/>
          </a:xfrm>
          <a:custGeom>
            <a:avLst/>
            <a:gdLst>
              <a:gd name="connisteX0" fmla="*/ 0 w 5677195"/>
              <a:gd name="connsiteY0" fmla="*/ 98468 h 518255"/>
              <a:gd name="connisteX1" fmla="*/ 85157 w 5677195"/>
              <a:gd name="connsiteY1" fmla="*/ 0 h 518255"/>
              <a:gd name="connisteX2" fmla="*/ 5592037 w 5677195"/>
              <a:gd name="connsiteY2" fmla="*/ 0 h 518255"/>
              <a:gd name="connisteX3" fmla="*/ 5677195 w 5677195"/>
              <a:gd name="connsiteY3" fmla="*/ 98468 h 518255"/>
              <a:gd name="connisteX4" fmla="*/ 5677195 w 5677195"/>
              <a:gd name="connsiteY4" fmla="*/ 419787 h 518255"/>
              <a:gd name="connisteX5" fmla="*/ 5592037 w 5677195"/>
              <a:gd name="connsiteY5" fmla="*/ 518255 h 518255"/>
              <a:gd name="connisteX6" fmla="*/ 85157 w 5677195"/>
              <a:gd name="connsiteY6" fmla="*/ 518255 h 518255"/>
              <a:gd name="connisteX7" fmla="*/ 0 w 5677195"/>
              <a:gd name="connsiteY7" fmla="*/ 419787 h 518255"/>
              <a:gd name="connisteX8" fmla="*/ 0 w 5677195"/>
              <a:gd name="connsiteY8" fmla="*/ 98468 h 5182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677196" h="518256">
                <a:moveTo>
                  <a:pt x="0" y="98469"/>
                </a:moveTo>
                <a:cubicBezTo>
                  <a:pt x="0" y="44086"/>
                  <a:pt x="38127" y="0"/>
                  <a:pt x="85158" y="0"/>
                </a:cubicBezTo>
                <a:lnTo>
                  <a:pt x="5592038" y="0"/>
                </a:lnTo>
                <a:cubicBezTo>
                  <a:pt x="5639069" y="0"/>
                  <a:pt x="5677196" y="44086"/>
                  <a:pt x="5677196" y="98469"/>
                </a:cubicBezTo>
                <a:lnTo>
                  <a:pt x="5677196" y="419787"/>
                </a:lnTo>
                <a:cubicBezTo>
                  <a:pt x="5677196" y="474170"/>
                  <a:pt x="5639069" y="518256"/>
                  <a:pt x="5592038" y="518256"/>
                </a:cubicBezTo>
                <a:lnTo>
                  <a:pt x="85158" y="518256"/>
                </a:lnTo>
                <a:cubicBezTo>
                  <a:pt x="38127" y="518256"/>
                  <a:pt x="0" y="474170"/>
                  <a:pt x="0" y="419787"/>
                </a:cubicBezTo>
                <a:lnTo>
                  <a:pt x="0" y="98469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6065" y="1059180"/>
            <a:ext cx="99060" cy="518160"/>
          </a:xfrm>
          <a:custGeom>
            <a:avLst/>
            <a:gdLst>
              <a:gd name="connisteX0" fmla="*/ 0 w 99065"/>
              <a:gd name="connsiteY0" fmla="*/ 36277 h 518255"/>
              <a:gd name="connisteX1" fmla="*/ 37644 w 99065"/>
              <a:gd name="connsiteY1" fmla="*/ 0 h 518255"/>
              <a:gd name="connisteX2" fmla="*/ 61420 w 99065"/>
              <a:gd name="connsiteY2" fmla="*/ 0 h 518255"/>
              <a:gd name="connisteX3" fmla="*/ 99065 w 99065"/>
              <a:gd name="connsiteY3" fmla="*/ 36277 h 518255"/>
              <a:gd name="connisteX4" fmla="*/ 99065 w 99065"/>
              <a:gd name="connsiteY4" fmla="*/ 481978 h 518255"/>
              <a:gd name="connisteX5" fmla="*/ 61420 w 99065"/>
              <a:gd name="connsiteY5" fmla="*/ 518255 h 518255"/>
              <a:gd name="connisteX6" fmla="*/ 37644 w 99065"/>
              <a:gd name="connsiteY6" fmla="*/ 518255 h 518255"/>
              <a:gd name="connisteX7" fmla="*/ 0 w 99065"/>
              <a:gd name="connsiteY7" fmla="*/ 481978 h 518255"/>
              <a:gd name="connisteX8" fmla="*/ 0 w 99065"/>
              <a:gd name="connsiteY8" fmla="*/ 36277 h 5182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99065" h="518256">
                <a:moveTo>
                  <a:pt x="0" y="36278"/>
                </a:moveTo>
                <a:cubicBezTo>
                  <a:pt x="0" y="16242"/>
                  <a:pt x="16854" y="0"/>
                  <a:pt x="37645" y="0"/>
                </a:cubicBezTo>
                <a:lnTo>
                  <a:pt x="61420" y="0"/>
                </a:lnTo>
                <a:cubicBezTo>
                  <a:pt x="82211" y="0"/>
                  <a:pt x="99065" y="16242"/>
                  <a:pt x="99065" y="36278"/>
                </a:cubicBezTo>
                <a:lnTo>
                  <a:pt x="99065" y="481978"/>
                </a:lnTo>
                <a:cubicBezTo>
                  <a:pt x="99065" y="502014"/>
                  <a:pt x="82211" y="518256"/>
                  <a:pt x="61420" y="518256"/>
                </a:cubicBezTo>
                <a:lnTo>
                  <a:pt x="37645" y="518256"/>
                </a:lnTo>
                <a:cubicBezTo>
                  <a:pt x="16854" y="518256"/>
                  <a:pt x="0" y="502014"/>
                  <a:pt x="0" y="481978"/>
                </a:cubicBezTo>
                <a:lnTo>
                  <a:pt x="0" y="36278"/>
                </a:lnTo>
                <a:close/>
              </a:path>
            </a:pathLst>
          </a:custGeom>
          <a:solidFill>
            <a:srgbClr val="4D94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25145" y="1135380"/>
            <a:ext cx="3383280" cy="41402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21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医疗健康知识图谱构建意义</a:t>
            </a:r>
            <a:endParaRPr lang="zh-CN" altLang="en-US" sz="21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400165" y="1059180"/>
            <a:ext cx="5524500" cy="518160"/>
          </a:xfrm>
          <a:custGeom>
            <a:avLst/>
            <a:gdLst>
              <a:gd name="connisteX0" fmla="*/ 0 w 5524787"/>
              <a:gd name="connsiteY0" fmla="*/ 98468 h 518255"/>
              <a:gd name="connisteX1" fmla="*/ 82871 w 5524787"/>
              <a:gd name="connsiteY1" fmla="*/ 0 h 518255"/>
              <a:gd name="connisteX2" fmla="*/ 5441915 w 5524787"/>
              <a:gd name="connsiteY2" fmla="*/ 0 h 518255"/>
              <a:gd name="connisteX3" fmla="*/ 5524787 w 5524787"/>
              <a:gd name="connsiteY3" fmla="*/ 98468 h 518255"/>
              <a:gd name="connisteX4" fmla="*/ 5524787 w 5524787"/>
              <a:gd name="connsiteY4" fmla="*/ 419787 h 518255"/>
              <a:gd name="connisteX5" fmla="*/ 5441915 w 5524787"/>
              <a:gd name="connsiteY5" fmla="*/ 518255 h 518255"/>
              <a:gd name="connisteX6" fmla="*/ 82871 w 5524787"/>
              <a:gd name="connsiteY6" fmla="*/ 518255 h 518255"/>
              <a:gd name="connisteX7" fmla="*/ 0 w 5524787"/>
              <a:gd name="connsiteY7" fmla="*/ 419787 h 518255"/>
              <a:gd name="connisteX8" fmla="*/ 0 w 5524787"/>
              <a:gd name="connsiteY8" fmla="*/ 98468 h 5182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24788" h="518256">
                <a:moveTo>
                  <a:pt x="0" y="98469"/>
                </a:moveTo>
                <a:cubicBezTo>
                  <a:pt x="0" y="44086"/>
                  <a:pt x="37103" y="0"/>
                  <a:pt x="82872" y="0"/>
                </a:cubicBezTo>
                <a:lnTo>
                  <a:pt x="5441916" y="0"/>
                </a:lnTo>
                <a:cubicBezTo>
                  <a:pt x="5487685" y="0"/>
                  <a:pt x="5524788" y="44086"/>
                  <a:pt x="5524788" y="98469"/>
                </a:cubicBezTo>
                <a:lnTo>
                  <a:pt x="5524788" y="419787"/>
                </a:lnTo>
                <a:cubicBezTo>
                  <a:pt x="5524788" y="474170"/>
                  <a:pt x="5487685" y="518256"/>
                  <a:pt x="5441916" y="518256"/>
                </a:cubicBezTo>
                <a:lnTo>
                  <a:pt x="82872" y="518256"/>
                </a:lnTo>
                <a:cubicBezTo>
                  <a:pt x="37103" y="518256"/>
                  <a:pt x="0" y="474170"/>
                  <a:pt x="0" y="419787"/>
                </a:cubicBezTo>
                <a:lnTo>
                  <a:pt x="0" y="98469"/>
                </a:lnTo>
                <a:close/>
              </a:path>
            </a:pathLst>
          </a:custGeom>
          <a:solidFill>
            <a:srgbClr val="EDF6FE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6400165" y="1059180"/>
            <a:ext cx="99060" cy="518160"/>
          </a:xfrm>
          <a:custGeom>
            <a:avLst/>
            <a:gdLst>
              <a:gd name="connisteX0" fmla="*/ 0 w 99065"/>
              <a:gd name="connsiteY0" fmla="*/ 36277 h 518255"/>
              <a:gd name="connisteX1" fmla="*/ 37644 w 99065"/>
              <a:gd name="connsiteY1" fmla="*/ 0 h 518255"/>
              <a:gd name="connisteX2" fmla="*/ 61420 w 99065"/>
              <a:gd name="connsiteY2" fmla="*/ 0 h 518255"/>
              <a:gd name="connisteX3" fmla="*/ 99065 w 99065"/>
              <a:gd name="connsiteY3" fmla="*/ 36277 h 518255"/>
              <a:gd name="connisteX4" fmla="*/ 99065 w 99065"/>
              <a:gd name="connsiteY4" fmla="*/ 481978 h 518255"/>
              <a:gd name="connisteX5" fmla="*/ 61420 w 99065"/>
              <a:gd name="connsiteY5" fmla="*/ 518255 h 518255"/>
              <a:gd name="connisteX6" fmla="*/ 37644 w 99065"/>
              <a:gd name="connsiteY6" fmla="*/ 518255 h 518255"/>
              <a:gd name="connisteX7" fmla="*/ 0 w 99065"/>
              <a:gd name="connsiteY7" fmla="*/ 481978 h 518255"/>
              <a:gd name="connisteX8" fmla="*/ 0 w 99065"/>
              <a:gd name="connsiteY8" fmla="*/ 36277 h 5182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99065" h="518256">
                <a:moveTo>
                  <a:pt x="0" y="36278"/>
                </a:moveTo>
                <a:cubicBezTo>
                  <a:pt x="0" y="16242"/>
                  <a:pt x="16854" y="0"/>
                  <a:pt x="37645" y="0"/>
                </a:cubicBezTo>
                <a:lnTo>
                  <a:pt x="61420" y="0"/>
                </a:lnTo>
                <a:cubicBezTo>
                  <a:pt x="82211" y="0"/>
                  <a:pt x="99065" y="16242"/>
                  <a:pt x="99065" y="36278"/>
                </a:cubicBezTo>
                <a:lnTo>
                  <a:pt x="99065" y="481978"/>
                </a:lnTo>
                <a:cubicBezTo>
                  <a:pt x="99065" y="502014"/>
                  <a:pt x="82211" y="518256"/>
                  <a:pt x="61420" y="518256"/>
                </a:cubicBezTo>
                <a:lnTo>
                  <a:pt x="37645" y="518256"/>
                </a:lnTo>
                <a:cubicBezTo>
                  <a:pt x="16854" y="518256"/>
                  <a:pt x="0" y="502014"/>
                  <a:pt x="0" y="481978"/>
                </a:cubicBezTo>
                <a:lnTo>
                  <a:pt x="0" y="36278"/>
                </a:lnTo>
                <a:close/>
              </a:path>
            </a:pathLst>
          </a:custGeom>
          <a:solidFill>
            <a:srgbClr val="4D94D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650990" y="1135380"/>
            <a:ext cx="3116580" cy="41402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21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不同检索策略的适用场景</a:t>
            </a:r>
            <a:endParaRPr lang="zh-CN" altLang="en-US" sz="21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163945" y="1059180"/>
            <a:ext cx="0" cy="5540375"/>
          </a:xfrm>
          <a:custGeom>
            <a:avLst/>
            <a:gdLst>
              <a:gd name="connisteX0" fmla="*/ 0 w 0"/>
              <a:gd name="connsiteY0" fmla="*/ 0 h 5540765"/>
              <a:gd name="connisteX1" fmla="*/ 0 w 0"/>
              <a:gd name="connsiteY1" fmla="*/ 5540765 h 55407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h="5540766">
                <a:moveTo>
                  <a:pt x="0" y="0"/>
                </a:moveTo>
                <a:lnTo>
                  <a:pt x="0" y="5540766"/>
                </a:lnTo>
              </a:path>
            </a:pathLst>
          </a:custGeom>
          <a:solidFill>
            <a:srgbClr val="000000"/>
          </a:solidFill>
          <a:ln w="11431" cap="rnd">
            <a:solidFill>
              <a:srgbClr val="BDDCF2"/>
            </a:solidFill>
            <a:custDash>
              <a:ds d="200000" sp="333333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448945" y="1973580"/>
            <a:ext cx="975360" cy="1127760"/>
            <a:chOff x="707" y="3108"/>
            <a:chExt cx="1536" cy="1776"/>
          </a:xfrm>
        </p:grpSpPr>
        <p:sp>
          <p:nvSpPr>
            <p:cNvPr id="20" name="任意多边形 19"/>
            <p:cNvSpPr/>
            <p:nvPr/>
          </p:nvSpPr>
          <p:spPr>
            <a:xfrm>
              <a:off x="1223" y="3108"/>
              <a:ext cx="1020" cy="1164"/>
            </a:xfrm>
            <a:custGeom>
              <a:avLst/>
              <a:gdLst>
                <a:gd name="connisteX0" fmla="*/ 0 w 647733"/>
                <a:gd name="connsiteY0" fmla="*/ 0 h 739276"/>
                <a:gd name="connisteX1" fmla="*/ 502946 w 647733"/>
                <a:gd name="connsiteY1" fmla="*/ 0 h 739276"/>
                <a:gd name="connisteX2" fmla="*/ 647733 w 647733"/>
                <a:gd name="connsiteY2" fmla="*/ 160049 h 739276"/>
                <a:gd name="connisteX3" fmla="*/ 647733 w 647733"/>
                <a:gd name="connsiteY3" fmla="*/ 739276 h 739276"/>
                <a:gd name="connisteX4" fmla="*/ 0 w 647733"/>
                <a:gd name="connsiteY4" fmla="*/ 739276 h 739276"/>
                <a:gd name="connisteX5" fmla="*/ 0 w 647733"/>
                <a:gd name="connsiteY5" fmla="*/ 0 h 73927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647734" h="739277">
                  <a:moveTo>
                    <a:pt x="0" y="0"/>
                  </a:moveTo>
                  <a:lnTo>
                    <a:pt x="502946" y="0"/>
                  </a:lnTo>
                  <a:lnTo>
                    <a:pt x="647734" y="160050"/>
                  </a:lnTo>
                  <a:lnTo>
                    <a:pt x="647734" y="739277"/>
                  </a:lnTo>
                  <a:lnTo>
                    <a:pt x="0" y="739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2863" cap="rnd">
              <a:solidFill>
                <a:srgbClr val="8DB6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2015" y="3108"/>
              <a:ext cx="228" cy="252"/>
            </a:xfrm>
            <a:custGeom>
              <a:avLst/>
              <a:gdLst>
                <a:gd name="connisteX0" fmla="*/ 0 w 144787"/>
                <a:gd name="connsiteY0" fmla="*/ 0 h 160049"/>
                <a:gd name="connisteX1" fmla="*/ 0 w 144787"/>
                <a:gd name="connsiteY1" fmla="*/ 160049 h 160049"/>
                <a:gd name="connisteX2" fmla="*/ 144787 w 144787"/>
                <a:gd name="connsiteY2" fmla="*/ 160049 h 1600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44788" h="160050">
                  <a:moveTo>
                    <a:pt x="0" y="0"/>
                  </a:moveTo>
                  <a:lnTo>
                    <a:pt x="0" y="160050"/>
                  </a:lnTo>
                  <a:lnTo>
                    <a:pt x="144788" y="160050"/>
                  </a:lnTo>
                </a:path>
              </a:pathLst>
            </a:custGeom>
            <a:noFill/>
            <a:ln w="22863" cap="rnd">
              <a:solidFill>
                <a:srgbClr val="8DB6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935" y="3408"/>
              <a:ext cx="1020" cy="1164"/>
            </a:xfrm>
            <a:custGeom>
              <a:avLst/>
              <a:gdLst>
                <a:gd name="connisteX0" fmla="*/ 0 w 647733"/>
                <a:gd name="connsiteY0" fmla="*/ 0 h 739276"/>
                <a:gd name="connisteX1" fmla="*/ 502946 w 647733"/>
                <a:gd name="connsiteY1" fmla="*/ 0 h 739276"/>
                <a:gd name="connisteX2" fmla="*/ 647733 w 647733"/>
                <a:gd name="connsiteY2" fmla="*/ 160049 h 739276"/>
                <a:gd name="connisteX3" fmla="*/ 647733 w 647733"/>
                <a:gd name="connsiteY3" fmla="*/ 739276 h 739276"/>
                <a:gd name="connisteX4" fmla="*/ 0 w 647733"/>
                <a:gd name="connsiteY4" fmla="*/ 739276 h 739276"/>
                <a:gd name="connisteX5" fmla="*/ 0 w 647733"/>
                <a:gd name="connsiteY5" fmla="*/ 0 h 73927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647734" h="739277">
                  <a:moveTo>
                    <a:pt x="0" y="0"/>
                  </a:moveTo>
                  <a:lnTo>
                    <a:pt x="502946" y="0"/>
                  </a:lnTo>
                  <a:lnTo>
                    <a:pt x="647734" y="160050"/>
                  </a:lnTo>
                  <a:lnTo>
                    <a:pt x="647734" y="739277"/>
                  </a:lnTo>
                  <a:lnTo>
                    <a:pt x="0" y="739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2863" cap="rnd">
              <a:solidFill>
                <a:srgbClr val="8DB6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1727" y="3408"/>
              <a:ext cx="228" cy="252"/>
            </a:xfrm>
            <a:custGeom>
              <a:avLst/>
              <a:gdLst>
                <a:gd name="connisteX0" fmla="*/ 0 w 144787"/>
                <a:gd name="connsiteY0" fmla="*/ 0 h 160049"/>
                <a:gd name="connisteX1" fmla="*/ 0 w 144787"/>
                <a:gd name="connsiteY1" fmla="*/ 160049 h 160049"/>
                <a:gd name="connisteX2" fmla="*/ 144787 w 144787"/>
                <a:gd name="connsiteY2" fmla="*/ 160049 h 1600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44788" h="160050">
                  <a:moveTo>
                    <a:pt x="0" y="0"/>
                  </a:moveTo>
                  <a:lnTo>
                    <a:pt x="0" y="160050"/>
                  </a:lnTo>
                  <a:lnTo>
                    <a:pt x="144788" y="160050"/>
                  </a:lnTo>
                </a:path>
              </a:pathLst>
            </a:custGeom>
            <a:noFill/>
            <a:ln w="22863" cap="rnd">
              <a:solidFill>
                <a:srgbClr val="8DB6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707" y="3720"/>
              <a:ext cx="1020" cy="1164"/>
            </a:xfrm>
            <a:custGeom>
              <a:avLst/>
              <a:gdLst>
                <a:gd name="connisteX0" fmla="*/ 0 w 647733"/>
                <a:gd name="connsiteY0" fmla="*/ 0 h 739276"/>
                <a:gd name="connisteX1" fmla="*/ 502946 w 647733"/>
                <a:gd name="connsiteY1" fmla="*/ 0 h 739276"/>
                <a:gd name="connisteX2" fmla="*/ 647733 w 647733"/>
                <a:gd name="connsiteY2" fmla="*/ 160049 h 739276"/>
                <a:gd name="connisteX3" fmla="*/ 647733 w 647733"/>
                <a:gd name="connsiteY3" fmla="*/ 739276 h 739276"/>
                <a:gd name="connisteX4" fmla="*/ 0 w 647733"/>
                <a:gd name="connsiteY4" fmla="*/ 739276 h 739276"/>
                <a:gd name="connisteX5" fmla="*/ 0 w 647733"/>
                <a:gd name="connsiteY5" fmla="*/ 0 h 73927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647734" h="739277">
                  <a:moveTo>
                    <a:pt x="0" y="0"/>
                  </a:moveTo>
                  <a:lnTo>
                    <a:pt x="502946" y="0"/>
                  </a:lnTo>
                  <a:lnTo>
                    <a:pt x="647734" y="160050"/>
                  </a:lnTo>
                  <a:lnTo>
                    <a:pt x="647734" y="739277"/>
                  </a:lnTo>
                  <a:lnTo>
                    <a:pt x="0" y="739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2863" cap="rnd">
              <a:solidFill>
                <a:srgbClr val="8DB6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1499" y="3720"/>
              <a:ext cx="228" cy="252"/>
            </a:xfrm>
            <a:custGeom>
              <a:avLst/>
              <a:gdLst>
                <a:gd name="connisteX0" fmla="*/ 0 w 144787"/>
                <a:gd name="connsiteY0" fmla="*/ 0 h 160049"/>
                <a:gd name="connisteX1" fmla="*/ 0 w 144787"/>
                <a:gd name="connsiteY1" fmla="*/ 160049 h 160049"/>
                <a:gd name="connisteX2" fmla="*/ 144787 w 144787"/>
                <a:gd name="connsiteY2" fmla="*/ 160049 h 1600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44788" h="160050">
                  <a:moveTo>
                    <a:pt x="0" y="0"/>
                  </a:moveTo>
                  <a:lnTo>
                    <a:pt x="0" y="160050"/>
                  </a:lnTo>
                  <a:lnTo>
                    <a:pt x="144788" y="160050"/>
                  </a:lnTo>
                </a:path>
              </a:pathLst>
            </a:custGeom>
            <a:noFill/>
            <a:ln w="22863" cap="rnd">
              <a:solidFill>
                <a:srgbClr val="8DB6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887" y="4272"/>
              <a:ext cx="636" cy="0"/>
            </a:xfrm>
            <a:custGeom>
              <a:avLst/>
              <a:gdLst>
                <a:gd name="connisteX0" fmla="*/ 0 w 403881"/>
                <a:gd name="connsiteY0" fmla="*/ 0 h 0"/>
                <a:gd name="connisteX1" fmla="*/ 403881 w 403881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03881">
                  <a:moveTo>
                    <a:pt x="0" y="0"/>
                  </a:moveTo>
                  <a:lnTo>
                    <a:pt x="403881" y="0"/>
                  </a:lnTo>
                </a:path>
              </a:pathLst>
            </a:custGeom>
            <a:solidFill>
              <a:srgbClr val="000000"/>
            </a:solidFill>
            <a:ln w="30484" cap="rnd">
              <a:solidFill>
                <a:srgbClr val="A9C7E3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7" y="4452"/>
              <a:ext cx="636" cy="0"/>
            </a:xfrm>
            <a:custGeom>
              <a:avLst/>
              <a:gdLst>
                <a:gd name="connisteX0" fmla="*/ 0 w 403881"/>
                <a:gd name="connsiteY0" fmla="*/ 0 h 0"/>
                <a:gd name="connisteX1" fmla="*/ 403881 w 403881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03881">
                  <a:moveTo>
                    <a:pt x="0" y="0"/>
                  </a:moveTo>
                  <a:lnTo>
                    <a:pt x="403881" y="0"/>
                  </a:lnTo>
                </a:path>
              </a:pathLst>
            </a:custGeom>
            <a:solidFill>
              <a:srgbClr val="000000"/>
            </a:solidFill>
            <a:ln w="30484" cap="rnd">
              <a:solidFill>
                <a:srgbClr val="A9C7E3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887" y="4632"/>
              <a:ext cx="636" cy="0"/>
            </a:xfrm>
            <a:custGeom>
              <a:avLst/>
              <a:gdLst>
                <a:gd name="connisteX0" fmla="*/ 0 w 403881"/>
                <a:gd name="connsiteY0" fmla="*/ 0 h 0"/>
                <a:gd name="connisteX1" fmla="*/ 403881 w 403881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03881">
                  <a:moveTo>
                    <a:pt x="0" y="0"/>
                  </a:moveTo>
                  <a:lnTo>
                    <a:pt x="403881" y="0"/>
                  </a:lnTo>
                </a:path>
              </a:pathLst>
            </a:custGeom>
            <a:solidFill>
              <a:srgbClr val="000000"/>
            </a:solidFill>
            <a:ln w="30484" cap="rnd">
              <a:solidFill>
                <a:srgbClr val="A9C7E3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1055" y="3888"/>
              <a:ext cx="144" cy="372"/>
            </a:xfrm>
            <a:custGeom>
              <a:avLst/>
              <a:gdLst>
                <a:gd name="connisteX0" fmla="*/ 0 w 91444"/>
                <a:gd name="connsiteY0" fmla="*/ 14175 h 236263"/>
                <a:gd name="connisteX1" fmla="*/ 15088 w 91444"/>
                <a:gd name="connsiteY1" fmla="*/ 0 h 236263"/>
                <a:gd name="connisteX2" fmla="*/ 76356 w 91444"/>
                <a:gd name="connsiteY2" fmla="*/ 0 h 236263"/>
                <a:gd name="connisteX3" fmla="*/ 91444 w 91444"/>
                <a:gd name="connsiteY3" fmla="*/ 14175 h 236263"/>
                <a:gd name="connisteX4" fmla="*/ 91444 w 91444"/>
                <a:gd name="connsiteY4" fmla="*/ 222087 h 236263"/>
                <a:gd name="connisteX5" fmla="*/ 76356 w 91444"/>
                <a:gd name="connsiteY5" fmla="*/ 236263 h 236263"/>
                <a:gd name="connisteX6" fmla="*/ 15088 w 91444"/>
                <a:gd name="connsiteY6" fmla="*/ 236263 h 236263"/>
                <a:gd name="connisteX7" fmla="*/ 0 w 91444"/>
                <a:gd name="connsiteY7" fmla="*/ 222087 h 236263"/>
                <a:gd name="connisteX8" fmla="*/ 0 w 91444"/>
                <a:gd name="connsiteY8" fmla="*/ 14175 h 23626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91445" h="236264">
                  <a:moveTo>
                    <a:pt x="0" y="14176"/>
                  </a:moveTo>
                  <a:cubicBezTo>
                    <a:pt x="0" y="6347"/>
                    <a:pt x="6755" y="0"/>
                    <a:pt x="15088" y="0"/>
                  </a:cubicBezTo>
                  <a:lnTo>
                    <a:pt x="76356" y="0"/>
                  </a:lnTo>
                  <a:cubicBezTo>
                    <a:pt x="84689" y="0"/>
                    <a:pt x="91445" y="6347"/>
                    <a:pt x="91445" y="14176"/>
                  </a:cubicBezTo>
                  <a:lnTo>
                    <a:pt x="91445" y="222088"/>
                  </a:lnTo>
                  <a:cubicBezTo>
                    <a:pt x="91445" y="229917"/>
                    <a:pt x="84689" y="236264"/>
                    <a:pt x="76356" y="236264"/>
                  </a:cubicBezTo>
                  <a:lnTo>
                    <a:pt x="15088" y="236264"/>
                  </a:lnTo>
                  <a:cubicBezTo>
                    <a:pt x="6755" y="236264"/>
                    <a:pt x="0" y="229917"/>
                    <a:pt x="0" y="222088"/>
                  </a:cubicBezTo>
                  <a:lnTo>
                    <a:pt x="0" y="14176"/>
                  </a:lnTo>
                  <a:close/>
                </a:path>
              </a:pathLst>
            </a:custGeom>
            <a:solidFill>
              <a:srgbClr val="E77077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947" y="3996"/>
              <a:ext cx="360" cy="144"/>
            </a:xfrm>
            <a:custGeom>
              <a:avLst/>
              <a:gdLst>
                <a:gd name="connisteX0" fmla="*/ 0 w 228611"/>
                <a:gd name="connsiteY0" fmla="*/ 15090 h 91456"/>
                <a:gd name="connisteX1" fmla="*/ 14859 w 228611"/>
                <a:gd name="connsiteY1" fmla="*/ 0 h 91456"/>
                <a:gd name="connisteX2" fmla="*/ 213752 w 228611"/>
                <a:gd name="connsiteY2" fmla="*/ 0 h 91456"/>
                <a:gd name="connisteX3" fmla="*/ 228611 w 228611"/>
                <a:gd name="connsiteY3" fmla="*/ 15090 h 91456"/>
                <a:gd name="connisteX4" fmla="*/ 228611 w 228611"/>
                <a:gd name="connsiteY4" fmla="*/ 76366 h 91456"/>
                <a:gd name="connisteX5" fmla="*/ 213752 w 228611"/>
                <a:gd name="connsiteY5" fmla="*/ 91456 h 91456"/>
                <a:gd name="connisteX6" fmla="*/ 14859 w 228611"/>
                <a:gd name="connsiteY6" fmla="*/ 91456 h 91456"/>
                <a:gd name="connisteX7" fmla="*/ 0 w 228611"/>
                <a:gd name="connsiteY7" fmla="*/ 76366 h 91456"/>
                <a:gd name="connisteX8" fmla="*/ 0 w 228611"/>
                <a:gd name="connsiteY8" fmla="*/ 15090 h 914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28612" h="91457">
                  <a:moveTo>
                    <a:pt x="0" y="15090"/>
                  </a:moveTo>
                  <a:cubicBezTo>
                    <a:pt x="0" y="6756"/>
                    <a:pt x="6653" y="0"/>
                    <a:pt x="14860" y="0"/>
                  </a:cubicBezTo>
                  <a:lnTo>
                    <a:pt x="213752" y="0"/>
                  </a:lnTo>
                  <a:cubicBezTo>
                    <a:pt x="221959" y="0"/>
                    <a:pt x="228612" y="6756"/>
                    <a:pt x="228612" y="15090"/>
                  </a:cubicBezTo>
                  <a:lnTo>
                    <a:pt x="228612" y="76367"/>
                  </a:lnTo>
                  <a:cubicBezTo>
                    <a:pt x="228612" y="84701"/>
                    <a:pt x="221959" y="91457"/>
                    <a:pt x="213752" y="91457"/>
                  </a:cubicBezTo>
                  <a:lnTo>
                    <a:pt x="14860" y="91457"/>
                  </a:lnTo>
                  <a:cubicBezTo>
                    <a:pt x="6653" y="91457"/>
                    <a:pt x="0" y="84701"/>
                    <a:pt x="0" y="76367"/>
                  </a:cubicBezTo>
                  <a:lnTo>
                    <a:pt x="0" y="15090"/>
                  </a:lnTo>
                  <a:close/>
                </a:path>
              </a:pathLst>
            </a:custGeom>
            <a:solidFill>
              <a:srgbClr val="E77077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782445" y="2072640"/>
            <a:ext cx="1066800" cy="1037590"/>
            <a:chOff x="2807" y="3264"/>
            <a:chExt cx="1680" cy="1634"/>
          </a:xfrm>
        </p:grpSpPr>
        <p:sp>
          <p:nvSpPr>
            <p:cNvPr id="32" name="任意多边形 31"/>
            <p:cNvSpPr/>
            <p:nvPr/>
          </p:nvSpPr>
          <p:spPr>
            <a:xfrm>
              <a:off x="2807" y="3264"/>
              <a:ext cx="1680" cy="1608"/>
            </a:xfrm>
            <a:custGeom>
              <a:avLst/>
              <a:gdLst>
                <a:gd name="connisteX0" fmla="*/ 0 w 1066855"/>
                <a:gd name="connsiteY0" fmla="*/ 86807 h 1021269"/>
                <a:gd name="connisteX1" fmla="*/ 90682 w 1066855"/>
                <a:gd name="connsiteY1" fmla="*/ 0 h 1021269"/>
                <a:gd name="connisteX2" fmla="*/ 976172 w 1066855"/>
                <a:gd name="connsiteY2" fmla="*/ 0 h 1021269"/>
                <a:gd name="connisteX3" fmla="*/ 1066855 w 1066855"/>
                <a:gd name="connsiteY3" fmla="*/ 86807 h 1021269"/>
                <a:gd name="connisteX4" fmla="*/ 1066855 w 1066855"/>
                <a:gd name="connsiteY4" fmla="*/ 934461 h 1021269"/>
                <a:gd name="connisteX5" fmla="*/ 976172 w 1066855"/>
                <a:gd name="connsiteY5" fmla="*/ 1021269 h 1021269"/>
                <a:gd name="connisteX6" fmla="*/ 90682 w 1066855"/>
                <a:gd name="connsiteY6" fmla="*/ 1021269 h 1021269"/>
                <a:gd name="connisteX7" fmla="*/ 0 w 1066855"/>
                <a:gd name="connsiteY7" fmla="*/ 934461 h 1021269"/>
                <a:gd name="connisteX8" fmla="*/ 0 w 1066855"/>
                <a:gd name="connsiteY8" fmla="*/ 86807 h 102126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66856" h="1021269">
                  <a:moveTo>
                    <a:pt x="0" y="86808"/>
                  </a:moveTo>
                  <a:cubicBezTo>
                    <a:pt x="0" y="38865"/>
                    <a:pt x="40600" y="0"/>
                    <a:pt x="90683" y="0"/>
                  </a:cubicBezTo>
                  <a:lnTo>
                    <a:pt x="976173" y="0"/>
                  </a:lnTo>
                  <a:cubicBezTo>
                    <a:pt x="1026256" y="0"/>
                    <a:pt x="1066856" y="38865"/>
                    <a:pt x="1066856" y="86808"/>
                  </a:cubicBezTo>
                  <a:lnTo>
                    <a:pt x="1066856" y="934461"/>
                  </a:lnTo>
                  <a:cubicBezTo>
                    <a:pt x="1066856" y="982404"/>
                    <a:pt x="1026256" y="1021269"/>
                    <a:pt x="976173" y="1021269"/>
                  </a:cubicBezTo>
                  <a:lnTo>
                    <a:pt x="90683" y="1021269"/>
                  </a:lnTo>
                  <a:cubicBezTo>
                    <a:pt x="40600" y="1021269"/>
                    <a:pt x="0" y="982404"/>
                    <a:pt x="0" y="934461"/>
                  </a:cubicBezTo>
                  <a:lnTo>
                    <a:pt x="0" y="86808"/>
                  </a:lnTo>
                  <a:close/>
                </a:path>
              </a:pathLst>
            </a:custGeom>
            <a:solidFill>
              <a:srgbClr val="FFFFFF"/>
            </a:solidFill>
            <a:ln w="22863" cap="flat">
              <a:solidFill>
                <a:srgbClr val="C3DDF0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2999" y="3528"/>
              <a:ext cx="288" cy="0"/>
            </a:xfrm>
            <a:custGeom>
              <a:avLst/>
              <a:gdLst>
                <a:gd name="connisteX0" fmla="*/ 0 w 182889"/>
                <a:gd name="connsiteY0" fmla="*/ 0 h 0"/>
                <a:gd name="connisteX1" fmla="*/ 182889 w 18288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82890">
                  <a:moveTo>
                    <a:pt x="0" y="0"/>
                  </a:moveTo>
                  <a:lnTo>
                    <a:pt x="182890" y="0"/>
                  </a:lnTo>
                </a:path>
              </a:pathLst>
            </a:custGeom>
            <a:solidFill>
              <a:srgbClr val="000000"/>
            </a:solidFill>
            <a:ln w="38105" cap="rnd">
              <a:solidFill>
                <a:srgbClr val="B7D3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2999" y="3780"/>
              <a:ext cx="444" cy="0"/>
            </a:xfrm>
            <a:custGeom>
              <a:avLst/>
              <a:gdLst>
                <a:gd name="connisteX0" fmla="*/ 0 w 281954"/>
                <a:gd name="connsiteY0" fmla="*/ 0 h 0"/>
                <a:gd name="connisteX1" fmla="*/ 281954 w 281954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81955">
                  <a:moveTo>
                    <a:pt x="0" y="0"/>
                  </a:moveTo>
                  <a:lnTo>
                    <a:pt x="281955" y="0"/>
                  </a:lnTo>
                </a:path>
              </a:pathLst>
            </a:custGeom>
            <a:solidFill>
              <a:srgbClr val="000000"/>
            </a:solidFill>
            <a:ln w="38105" cap="rnd">
              <a:solidFill>
                <a:srgbClr val="EECF81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999" y="4032"/>
              <a:ext cx="288" cy="0"/>
            </a:xfrm>
            <a:custGeom>
              <a:avLst/>
              <a:gdLst>
                <a:gd name="connisteX0" fmla="*/ 0 w 182889"/>
                <a:gd name="connsiteY0" fmla="*/ 0 h 0"/>
                <a:gd name="connisteX1" fmla="*/ 182889 w 18288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82890">
                  <a:moveTo>
                    <a:pt x="0" y="0"/>
                  </a:moveTo>
                  <a:lnTo>
                    <a:pt x="182890" y="0"/>
                  </a:lnTo>
                </a:path>
              </a:pathLst>
            </a:custGeom>
            <a:solidFill>
              <a:srgbClr val="000000"/>
            </a:solidFill>
            <a:ln w="38105" cap="rnd">
              <a:solidFill>
                <a:srgbClr val="B7D3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2999" y="4284"/>
              <a:ext cx="444" cy="0"/>
            </a:xfrm>
            <a:custGeom>
              <a:avLst/>
              <a:gdLst>
                <a:gd name="connisteX0" fmla="*/ 0 w 281954"/>
                <a:gd name="connsiteY0" fmla="*/ 0 h 0"/>
                <a:gd name="connisteX1" fmla="*/ 281954 w 281954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81955">
                  <a:moveTo>
                    <a:pt x="0" y="0"/>
                  </a:moveTo>
                  <a:lnTo>
                    <a:pt x="281955" y="0"/>
                  </a:lnTo>
                </a:path>
              </a:pathLst>
            </a:custGeom>
            <a:solidFill>
              <a:srgbClr val="000000"/>
            </a:solidFill>
            <a:ln w="38105" cap="rnd">
              <a:solidFill>
                <a:srgbClr val="EECF81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2999" y="4536"/>
              <a:ext cx="288" cy="0"/>
            </a:xfrm>
            <a:custGeom>
              <a:avLst/>
              <a:gdLst>
                <a:gd name="connisteX0" fmla="*/ 0 w 182889"/>
                <a:gd name="connsiteY0" fmla="*/ 0 h 0"/>
                <a:gd name="connisteX1" fmla="*/ 182889 w 182889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82890">
                  <a:moveTo>
                    <a:pt x="0" y="0"/>
                  </a:moveTo>
                  <a:lnTo>
                    <a:pt x="182890" y="0"/>
                  </a:lnTo>
                </a:path>
              </a:pathLst>
            </a:custGeom>
            <a:solidFill>
              <a:srgbClr val="000000"/>
            </a:solidFill>
            <a:ln w="38105" cap="rnd">
              <a:solidFill>
                <a:srgbClr val="B7D3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3359" y="3660"/>
              <a:ext cx="252" cy="804"/>
            </a:xfrm>
            <a:custGeom>
              <a:avLst/>
              <a:gdLst>
                <a:gd name="connisteX0" fmla="*/ 160028 w 160028"/>
                <a:gd name="connsiteY0" fmla="*/ 0 h 510634"/>
                <a:gd name="connisteX1" fmla="*/ 76203 w 160028"/>
                <a:gd name="connsiteY1" fmla="*/ 91456 h 510634"/>
                <a:gd name="connisteX2" fmla="*/ 76203 w 160028"/>
                <a:gd name="connsiteY2" fmla="*/ 182913 h 510634"/>
                <a:gd name="connisteX3" fmla="*/ 0 w 160028"/>
                <a:gd name="connsiteY3" fmla="*/ 243885 h 510634"/>
                <a:gd name="connisteX4" fmla="*/ 76203 w 160028"/>
                <a:gd name="connsiteY4" fmla="*/ 312477 h 510634"/>
                <a:gd name="connisteX5" fmla="*/ 76203 w 160028"/>
                <a:gd name="connsiteY5" fmla="*/ 449663 h 510634"/>
                <a:gd name="connisteX6" fmla="*/ 160028 w 160028"/>
                <a:gd name="connsiteY6" fmla="*/ 510634 h 51063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160028" h="510635">
                  <a:moveTo>
                    <a:pt x="160028" y="0"/>
                  </a:moveTo>
                  <a:cubicBezTo>
                    <a:pt x="104145" y="0"/>
                    <a:pt x="76204" y="30486"/>
                    <a:pt x="76204" y="91457"/>
                  </a:cubicBezTo>
                  <a:lnTo>
                    <a:pt x="76204" y="182914"/>
                  </a:lnTo>
                  <a:cubicBezTo>
                    <a:pt x="76204" y="223561"/>
                    <a:pt x="50803" y="243885"/>
                    <a:pt x="0" y="243885"/>
                  </a:cubicBezTo>
                  <a:cubicBezTo>
                    <a:pt x="50803" y="243885"/>
                    <a:pt x="76204" y="266749"/>
                    <a:pt x="76204" y="312478"/>
                  </a:cubicBezTo>
                  <a:lnTo>
                    <a:pt x="76204" y="449663"/>
                  </a:lnTo>
                  <a:cubicBezTo>
                    <a:pt x="76204" y="490311"/>
                    <a:pt x="104145" y="510635"/>
                    <a:pt x="160028" y="510635"/>
                  </a:cubicBezTo>
                </a:path>
              </a:pathLst>
            </a:custGeom>
            <a:noFill/>
            <a:ln w="22863" cap="rnd">
              <a:solidFill>
                <a:srgbClr val="075494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3695" y="3480"/>
              <a:ext cx="648" cy="384"/>
            </a:xfrm>
            <a:custGeom>
              <a:avLst/>
              <a:gdLst>
                <a:gd name="connisteX0" fmla="*/ 0 w 411501"/>
                <a:gd name="connsiteY0" fmla="*/ 37802 h 243885"/>
                <a:gd name="connisteX1" fmla="*/ 37035 w 411501"/>
                <a:gd name="connsiteY1" fmla="*/ 0 h 243885"/>
                <a:gd name="connisteX2" fmla="*/ 374466 w 411501"/>
                <a:gd name="connsiteY2" fmla="*/ 0 h 243885"/>
                <a:gd name="connisteX3" fmla="*/ 411501 w 411501"/>
                <a:gd name="connsiteY3" fmla="*/ 37802 h 243885"/>
                <a:gd name="connisteX4" fmla="*/ 411501 w 411501"/>
                <a:gd name="connsiteY4" fmla="*/ 206082 h 243885"/>
                <a:gd name="connisteX5" fmla="*/ 374466 w 411501"/>
                <a:gd name="connsiteY5" fmla="*/ 243885 h 243885"/>
                <a:gd name="connisteX6" fmla="*/ 37035 w 411501"/>
                <a:gd name="connsiteY6" fmla="*/ 243885 h 243885"/>
                <a:gd name="connisteX7" fmla="*/ 0 w 411501"/>
                <a:gd name="connsiteY7" fmla="*/ 206082 h 243885"/>
                <a:gd name="connisteX8" fmla="*/ 0 w 411501"/>
                <a:gd name="connsiteY8" fmla="*/ 37802 h 2438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411501" h="243885">
                  <a:moveTo>
                    <a:pt x="0" y="37802"/>
                  </a:moveTo>
                  <a:cubicBezTo>
                    <a:pt x="0" y="16925"/>
                    <a:pt x="16581" y="0"/>
                    <a:pt x="37035" y="0"/>
                  </a:cubicBezTo>
                  <a:lnTo>
                    <a:pt x="374466" y="0"/>
                  </a:lnTo>
                  <a:cubicBezTo>
                    <a:pt x="394920" y="0"/>
                    <a:pt x="411501" y="16925"/>
                    <a:pt x="411501" y="37802"/>
                  </a:cubicBezTo>
                  <a:lnTo>
                    <a:pt x="411501" y="206083"/>
                  </a:lnTo>
                  <a:cubicBezTo>
                    <a:pt x="411501" y="226961"/>
                    <a:pt x="394920" y="243885"/>
                    <a:pt x="374466" y="243885"/>
                  </a:cubicBezTo>
                  <a:lnTo>
                    <a:pt x="37035" y="243885"/>
                  </a:lnTo>
                  <a:cubicBezTo>
                    <a:pt x="16581" y="243885"/>
                    <a:pt x="0" y="226961"/>
                    <a:pt x="0" y="206083"/>
                  </a:cubicBezTo>
                  <a:lnTo>
                    <a:pt x="0" y="37802"/>
                  </a:lnTo>
                  <a:close/>
                </a:path>
              </a:pathLst>
            </a:custGeom>
            <a:solidFill>
              <a:srgbClr val="3B92C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643" y="3480"/>
              <a:ext cx="768" cy="43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200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疾病</a:t>
              </a:r>
              <a:endParaRPr lang="zh-CN" altLang="en-US" sz="120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3695" y="3972"/>
              <a:ext cx="648" cy="384"/>
            </a:xfrm>
            <a:custGeom>
              <a:avLst/>
              <a:gdLst>
                <a:gd name="connisteX0" fmla="*/ 0 w 411501"/>
                <a:gd name="connsiteY0" fmla="*/ 37802 h 243885"/>
                <a:gd name="connisteX1" fmla="*/ 37035 w 411501"/>
                <a:gd name="connsiteY1" fmla="*/ 0 h 243885"/>
                <a:gd name="connisteX2" fmla="*/ 374466 w 411501"/>
                <a:gd name="connsiteY2" fmla="*/ 0 h 243885"/>
                <a:gd name="connisteX3" fmla="*/ 411501 w 411501"/>
                <a:gd name="connsiteY3" fmla="*/ 37802 h 243885"/>
                <a:gd name="connisteX4" fmla="*/ 411501 w 411501"/>
                <a:gd name="connsiteY4" fmla="*/ 206082 h 243885"/>
                <a:gd name="connisteX5" fmla="*/ 374466 w 411501"/>
                <a:gd name="connsiteY5" fmla="*/ 243885 h 243885"/>
                <a:gd name="connisteX6" fmla="*/ 37035 w 411501"/>
                <a:gd name="connsiteY6" fmla="*/ 243885 h 243885"/>
                <a:gd name="connisteX7" fmla="*/ 0 w 411501"/>
                <a:gd name="connsiteY7" fmla="*/ 206082 h 243885"/>
                <a:gd name="connisteX8" fmla="*/ 0 w 411501"/>
                <a:gd name="connsiteY8" fmla="*/ 37802 h 2438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411501" h="243885">
                  <a:moveTo>
                    <a:pt x="0" y="37802"/>
                  </a:moveTo>
                  <a:cubicBezTo>
                    <a:pt x="0" y="16925"/>
                    <a:pt x="16581" y="0"/>
                    <a:pt x="37035" y="0"/>
                  </a:cubicBezTo>
                  <a:lnTo>
                    <a:pt x="374466" y="0"/>
                  </a:lnTo>
                  <a:cubicBezTo>
                    <a:pt x="394920" y="0"/>
                    <a:pt x="411501" y="16925"/>
                    <a:pt x="411501" y="37802"/>
                  </a:cubicBezTo>
                  <a:lnTo>
                    <a:pt x="411501" y="206083"/>
                  </a:lnTo>
                  <a:cubicBezTo>
                    <a:pt x="411501" y="226961"/>
                    <a:pt x="394920" y="243885"/>
                    <a:pt x="374466" y="243885"/>
                  </a:cubicBezTo>
                  <a:lnTo>
                    <a:pt x="37035" y="243885"/>
                  </a:lnTo>
                  <a:cubicBezTo>
                    <a:pt x="16581" y="243885"/>
                    <a:pt x="0" y="226961"/>
                    <a:pt x="0" y="206083"/>
                  </a:cubicBezTo>
                  <a:lnTo>
                    <a:pt x="0" y="37802"/>
                  </a:lnTo>
                  <a:close/>
                </a:path>
              </a:pathLst>
            </a:custGeom>
            <a:solidFill>
              <a:srgbClr val="3B92C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647" y="3972"/>
              <a:ext cx="768" cy="43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200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药物</a:t>
              </a:r>
              <a:endParaRPr lang="zh-CN" altLang="en-US" sz="120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3695" y="4464"/>
              <a:ext cx="648" cy="384"/>
            </a:xfrm>
            <a:custGeom>
              <a:avLst/>
              <a:gdLst>
                <a:gd name="connisteX0" fmla="*/ 0 w 411501"/>
                <a:gd name="connsiteY0" fmla="*/ 37802 h 243885"/>
                <a:gd name="connisteX1" fmla="*/ 37035 w 411501"/>
                <a:gd name="connsiteY1" fmla="*/ 0 h 243885"/>
                <a:gd name="connisteX2" fmla="*/ 374466 w 411501"/>
                <a:gd name="connsiteY2" fmla="*/ 0 h 243885"/>
                <a:gd name="connisteX3" fmla="*/ 411501 w 411501"/>
                <a:gd name="connsiteY3" fmla="*/ 37802 h 243885"/>
                <a:gd name="connisteX4" fmla="*/ 411501 w 411501"/>
                <a:gd name="connsiteY4" fmla="*/ 206082 h 243885"/>
                <a:gd name="connisteX5" fmla="*/ 374466 w 411501"/>
                <a:gd name="connsiteY5" fmla="*/ 243885 h 243885"/>
                <a:gd name="connisteX6" fmla="*/ 37035 w 411501"/>
                <a:gd name="connsiteY6" fmla="*/ 243885 h 243885"/>
                <a:gd name="connisteX7" fmla="*/ 0 w 411501"/>
                <a:gd name="connsiteY7" fmla="*/ 206082 h 243885"/>
                <a:gd name="connisteX8" fmla="*/ 0 w 411501"/>
                <a:gd name="connsiteY8" fmla="*/ 37802 h 2438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411501" h="243885">
                  <a:moveTo>
                    <a:pt x="0" y="37802"/>
                  </a:moveTo>
                  <a:cubicBezTo>
                    <a:pt x="0" y="16925"/>
                    <a:pt x="16581" y="0"/>
                    <a:pt x="37035" y="0"/>
                  </a:cubicBezTo>
                  <a:lnTo>
                    <a:pt x="374466" y="0"/>
                  </a:lnTo>
                  <a:cubicBezTo>
                    <a:pt x="394920" y="0"/>
                    <a:pt x="411501" y="16925"/>
                    <a:pt x="411501" y="37802"/>
                  </a:cubicBezTo>
                  <a:lnTo>
                    <a:pt x="411501" y="206083"/>
                  </a:lnTo>
                  <a:cubicBezTo>
                    <a:pt x="411501" y="226961"/>
                    <a:pt x="394920" y="243885"/>
                    <a:pt x="374466" y="243885"/>
                  </a:cubicBezTo>
                  <a:lnTo>
                    <a:pt x="37035" y="243885"/>
                  </a:lnTo>
                  <a:cubicBezTo>
                    <a:pt x="16581" y="243885"/>
                    <a:pt x="0" y="226961"/>
                    <a:pt x="0" y="206083"/>
                  </a:cubicBezTo>
                  <a:lnTo>
                    <a:pt x="0" y="37802"/>
                  </a:lnTo>
                  <a:close/>
                </a:path>
              </a:pathLst>
            </a:custGeom>
            <a:solidFill>
              <a:srgbClr val="3B92C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644" y="4464"/>
              <a:ext cx="768" cy="43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200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症状</a:t>
              </a:r>
              <a:endParaRPr lang="zh-CN" altLang="en-US" sz="120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032125" y="1828800"/>
            <a:ext cx="1417320" cy="1379220"/>
            <a:chOff x="4775" y="2880"/>
            <a:chExt cx="2232" cy="2172"/>
          </a:xfrm>
        </p:grpSpPr>
        <p:sp>
          <p:nvSpPr>
            <p:cNvPr id="46" name="任意多边形 45"/>
            <p:cNvSpPr/>
            <p:nvPr/>
          </p:nvSpPr>
          <p:spPr>
            <a:xfrm>
              <a:off x="5147" y="3216"/>
              <a:ext cx="732" cy="840"/>
            </a:xfrm>
            <a:custGeom>
              <a:avLst/>
              <a:gdLst>
                <a:gd name="connisteX0" fmla="*/ 464844 w 464844"/>
                <a:gd name="connsiteY0" fmla="*/ 533498 h 533498"/>
                <a:gd name="connisteX1" fmla="*/ 0 w 464844"/>
                <a:gd name="connsiteY1" fmla="*/ 0 h 53349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64844" h="533499">
                  <a:moveTo>
                    <a:pt x="464844" y="533499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5879" y="3216"/>
              <a:ext cx="720" cy="840"/>
            </a:xfrm>
            <a:custGeom>
              <a:avLst/>
              <a:gdLst>
                <a:gd name="connisteX0" fmla="*/ 0 w 457223"/>
                <a:gd name="connsiteY0" fmla="*/ 533498 h 533498"/>
                <a:gd name="connisteX1" fmla="*/ 457223 w 457223"/>
                <a:gd name="connsiteY1" fmla="*/ 0 h 53349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57224" h="533499">
                  <a:moveTo>
                    <a:pt x="0" y="533499"/>
                  </a:moveTo>
                  <a:lnTo>
                    <a:pt x="457224" y="0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4907" y="3924"/>
              <a:ext cx="972" cy="132"/>
            </a:xfrm>
            <a:custGeom>
              <a:avLst/>
              <a:gdLst>
                <a:gd name="connisteX0" fmla="*/ 617252 w 617252"/>
                <a:gd name="connsiteY0" fmla="*/ 83835 h 83835"/>
                <a:gd name="connisteX1" fmla="*/ 0 w 617252"/>
                <a:gd name="connsiteY1" fmla="*/ 0 h 838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617252" h="83836">
                  <a:moveTo>
                    <a:pt x="617252" y="83836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5879" y="3912"/>
              <a:ext cx="996" cy="144"/>
            </a:xfrm>
            <a:custGeom>
              <a:avLst/>
              <a:gdLst>
                <a:gd name="connisteX0" fmla="*/ 0 w 632492"/>
                <a:gd name="connsiteY0" fmla="*/ 91456 h 91456"/>
                <a:gd name="connisteX1" fmla="*/ 632492 w 632492"/>
                <a:gd name="connsiteY1" fmla="*/ 0 h 914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632493" h="91457">
                  <a:moveTo>
                    <a:pt x="0" y="91457"/>
                  </a:moveTo>
                  <a:lnTo>
                    <a:pt x="632493" y="0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5183" y="4056"/>
              <a:ext cx="696" cy="684"/>
            </a:xfrm>
            <a:custGeom>
              <a:avLst/>
              <a:gdLst>
                <a:gd name="connisteX0" fmla="*/ 441983 w 441983"/>
                <a:gd name="connsiteY0" fmla="*/ 0 h 434420"/>
                <a:gd name="connisteX1" fmla="*/ 0 w 441983"/>
                <a:gd name="connsiteY1" fmla="*/ 434420 h 4344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1983" h="434420">
                  <a:moveTo>
                    <a:pt x="441983" y="0"/>
                  </a:moveTo>
                  <a:lnTo>
                    <a:pt x="0" y="434420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5879" y="4056"/>
              <a:ext cx="696" cy="648"/>
            </a:xfrm>
            <a:custGeom>
              <a:avLst/>
              <a:gdLst>
                <a:gd name="connisteX0" fmla="*/ 0 w 441983"/>
                <a:gd name="connsiteY0" fmla="*/ 0 h 411556"/>
                <a:gd name="connisteX1" fmla="*/ 441983 w 441983"/>
                <a:gd name="connsiteY1" fmla="*/ 411556 h 4115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1983" h="411556">
                  <a:moveTo>
                    <a:pt x="0" y="0"/>
                  </a:moveTo>
                  <a:lnTo>
                    <a:pt x="441983" y="411556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5879" y="4056"/>
              <a:ext cx="0" cy="876"/>
            </a:xfrm>
            <a:custGeom>
              <a:avLst/>
              <a:gdLst>
                <a:gd name="connisteX0" fmla="*/ 0 w 0"/>
                <a:gd name="connsiteY0" fmla="*/ 0 h 556363"/>
                <a:gd name="connisteX1" fmla="*/ 0 w 0"/>
                <a:gd name="connsiteY1" fmla="*/ 556363 h 55636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556363">
                  <a:moveTo>
                    <a:pt x="0" y="0"/>
                  </a:moveTo>
                  <a:lnTo>
                    <a:pt x="0" y="556363"/>
                  </a:lnTo>
                </a:path>
              </a:pathLst>
            </a:custGeom>
            <a:solidFill>
              <a:srgbClr val="000000"/>
            </a:solidFill>
            <a:ln w="22863" cap="rnd">
              <a:solidFill>
                <a:srgbClr val="73B3D5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5147" y="3216"/>
              <a:ext cx="1452" cy="0"/>
            </a:xfrm>
            <a:custGeom>
              <a:avLst/>
              <a:gdLst>
                <a:gd name="connisteX0" fmla="*/ 0 w 922068"/>
                <a:gd name="connsiteY0" fmla="*/ 0 h 0"/>
                <a:gd name="connisteX1" fmla="*/ 922068 w 922068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922068">
                  <a:moveTo>
                    <a:pt x="0" y="0"/>
                  </a:moveTo>
                  <a:lnTo>
                    <a:pt x="922068" y="0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4907" y="3216"/>
              <a:ext cx="240" cy="708"/>
            </a:xfrm>
            <a:custGeom>
              <a:avLst/>
              <a:gdLst>
                <a:gd name="connisteX0" fmla="*/ 152407 w 152407"/>
                <a:gd name="connsiteY0" fmla="*/ 0 h 449663"/>
                <a:gd name="connisteX1" fmla="*/ 0 w 152407"/>
                <a:gd name="connsiteY1" fmla="*/ 449663 h 44966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52408" h="449663">
                  <a:moveTo>
                    <a:pt x="152408" y="0"/>
                  </a:moveTo>
                  <a:lnTo>
                    <a:pt x="0" y="449663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6599" y="3216"/>
              <a:ext cx="276" cy="696"/>
            </a:xfrm>
            <a:custGeom>
              <a:avLst/>
              <a:gdLst>
                <a:gd name="connisteX0" fmla="*/ 0 w 175269"/>
                <a:gd name="connsiteY0" fmla="*/ 0 h 442041"/>
                <a:gd name="connisteX1" fmla="*/ 175269 w 175269"/>
                <a:gd name="connsiteY1" fmla="*/ 442041 h 44204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75269" h="442042">
                  <a:moveTo>
                    <a:pt x="0" y="0"/>
                  </a:moveTo>
                  <a:lnTo>
                    <a:pt x="175269" y="442042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907" y="3924"/>
              <a:ext cx="276" cy="816"/>
            </a:xfrm>
            <a:custGeom>
              <a:avLst/>
              <a:gdLst>
                <a:gd name="connisteX0" fmla="*/ 0 w 175269"/>
                <a:gd name="connsiteY0" fmla="*/ 0 h 518255"/>
                <a:gd name="connisteX1" fmla="*/ 175269 w 175269"/>
                <a:gd name="connsiteY1" fmla="*/ 518255 h 51825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75269" h="518256">
                  <a:moveTo>
                    <a:pt x="0" y="0"/>
                  </a:moveTo>
                  <a:lnTo>
                    <a:pt x="175269" y="518256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6575" y="3912"/>
              <a:ext cx="300" cy="792"/>
            </a:xfrm>
            <a:custGeom>
              <a:avLst/>
              <a:gdLst>
                <a:gd name="connisteX0" fmla="*/ 190509 w 190509"/>
                <a:gd name="connsiteY0" fmla="*/ 0 h 503013"/>
                <a:gd name="connisteX1" fmla="*/ 0 w 190509"/>
                <a:gd name="connsiteY1" fmla="*/ 503013 h 50301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90510" h="503013">
                  <a:moveTo>
                    <a:pt x="190510" y="0"/>
                  </a:moveTo>
                  <a:lnTo>
                    <a:pt x="0" y="503013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5183" y="4740"/>
              <a:ext cx="696" cy="192"/>
            </a:xfrm>
            <a:custGeom>
              <a:avLst/>
              <a:gdLst>
                <a:gd name="connisteX0" fmla="*/ 0 w 441983"/>
                <a:gd name="connsiteY0" fmla="*/ 0 h 121942"/>
                <a:gd name="connisteX1" fmla="*/ 441983 w 441983"/>
                <a:gd name="connsiteY1" fmla="*/ 121942 h 12194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1983" h="121943">
                  <a:moveTo>
                    <a:pt x="0" y="0"/>
                  </a:moveTo>
                  <a:lnTo>
                    <a:pt x="441983" y="121943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5879" y="4704"/>
              <a:ext cx="696" cy="228"/>
            </a:xfrm>
            <a:custGeom>
              <a:avLst/>
              <a:gdLst>
                <a:gd name="connisteX0" fmla="*/ 441983 w 441983"/>
                <a:gd name="connsiteY0" fmla="*/ 0 h 144806"/>
                <a:gd name="connisteX1" fmla="*/ 0 w 441983"/>
                <a:gd name="connsiteY1" fmla="*/ 144806 h 14480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441983" h="144807">
                  <a:moveTo>
                    <a:pt x="441983" y="0"/>
                  </a:moveTo>
                  <a:lnTo>
                    <a:pt x="0" y="144807"/>
                  </a:lnTo>
                </a:path>
              </a:pathLst>
            </a:custGeom>
            <a:solidFill>
              <a:srgbClr val="000000"/>
            </a:solidFill>
            <a:ln w="15242" cap="rnd">
              <a:solidFill>
                <a:srgbClr val="C4DFEB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4835" y="2904"/>
              <a:ext cx="624" cy="624"/>
            </a:xfrm>
            <a:custGeom>
              <a:avLst/>
              <a:gdLst>
                <a:gd name="connisteX0" fmla="*/ 396260 w 396260"/>
                <a:gd name="connsiteY0" fmla="*/ 198156 h 396313"/>
                <a:gd name="connisteX1" fmla="*/ 198130 w 396260"/>
                <a:gd name="connsiteY1" fmla="*/ 396313 h 396313"/>
                <a:gd name="connisteX2" fmla="*/ 0 w 396260"/>
                <a:gd name="connsiteY2" fmla="*/ 198156 h 396313"/>
                <a:gd name="connisteX3" fmla="*/ 198130 w 396260"/>
                <a:gd name="connsiteY3" fmla="*/ 0 h 396313"/>
                <a:gd name="connisteX4" fmla="*/ 396260 w 396260"/>
                <a:gd name="connsiteY4" fmla="*/ 198156 h 39631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96261" h="396313">
                  <a:moveTo>
                    <a:pt x="396261" y="198157"/>
                  </a:moveTo>
                  <a:cubicBezTo>
                    <a:pt x="396261" y="307596"/>
                    <a:pt x="307555" y="396313"/>
                    <a:pt x="198130" y="396313"/>
                  </a:cubicBezTo>
                  <a:cubicBezTo>
                    <a:pt x="88706" y="396313"/>
                    <a:pt x="0" y="307596"/>
                    <a:pt x="0" y="198157"/>
                  </a:cubicBezTo>
                  <a:cubicBezTo>
                    <a:pt x="0" y="88718"/>
                    <a:pt x="88706" y="0"/>
                    <a:pt x="198130" y="0"/>
                  </a:cubicBezTo>
                  <a:cubicBezTo>
                    <a:pt x="307555" y="0"/>
                    <a:pt x="396261" y="88718"/>
                    <a:pt x="396261" y="198157"/>
                  </a:cubicBezTo>
                  <a:close/>
                </a:path>
              </a:pathLst>
            </a:custGeom>
            <a:solidFill>
              <a:srgbClr val="4B93D7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6263" y="2880"/>
              <a:ext cx="672" cy="672"/>
            </a:xfrm>
            <a:custGeom>
              <a:avLst/>
              <a:gdLst>
                <a:gd name="connisteX0" fmla="*/ 426742 w 426742"/>
                <a:gd name="connsiteY0" fmla="*/ 213399 h 426799"/>
                <a:gd name="connisteX1" fmla="*/ 213371 w 426742"/>
                <a:gd name="connsiteY1" fmla="*/ 426799 h 426799"/>
                <a:gd name="connisteX2" fmla="*/ 0 w 426742"/>
                <a:gd name="connsiteY2" fmla="*/ 213399 h 426799"/>
                <a:gd name="connisteX3" fmla="*/ 213371 w 426742"/>
                <a:gd name="connsiteY3" fmla="*/ 0 h 426799"/>
                <a:gd name="connisteX4" fmla="*/ 426742 w 426742"/>
                <a:gd name="connsiteY4" fmla="*/ 213399 h 4267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26742" h="426799">
                  <a:moveTo>
                    <a:pt x="426742" y="213400"/>
                  </a:moveTo>
                  <a:cubicBezTo>
                    <a:pt x="426742" y="331257"/>
                    <a:pt x="331213" y="426799"/>
                    <a:pt x="213371" y="426799"/>
                  </a:cubicBezTo>
                  <a:cubicBezTo>
                    <a:pt x="95530" y="426799"/>
                    <a:pt x="0" y="331257"/>
                    <a:pt x="0" y="213400"/>
                  </a:cubicBezTo>
                  <a:cubicBezTo>
                    <a:pt x="0" y="95542"/>
                    <a:pt x="95530" y="0"/>
                    <a:pt x="213371" y="0"/>
                  </a:cubicBezTo>
                  <a:cubicBezTo>
                    <a:pt x="331213" y="0"/>
                    <a:pt x="426742" y="95542"/>
                    <a:pt x="426742" y="213400"/>
                  </a:cubicBezTo>
                  <a:close/>
                </a:path>
              </a:pathLst>
            </a:custGeom>
            <a:solidFill>
              <a:srgbClr val="64BCA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4775" y="3792"/>
              <a:ext cx="264" cy="264"/>
            </a:xfrm>
            <a:custGeom>
              <a:avLst/>
              <a:gdLst>
                <a:gd name="connisteX0" fmla="*/ 167648 w 167648"/>
                <a:gd name="connsiteY0" fmla="*/ 83835 h 167671"/>
                <a:gd name="connisteX1" fmla="*/ 83824 w 167648"/>
                <a:gd name="connsiteY1" fmla="*/ 167671 h 167671"/>
                <a:gd name="connisteX2" fmla="*/ 0 w 167648"/>
                <a:gd name="connsiteY2" fmla="*/ 83835 h 167671"/>
                <a:gd name="connisteX3" fmla="*/ 83824 w 167648"/>
                <a:gd name="connsiteY3" fmla="*/ 0 h 167671"/>
                <a:gd name="connisteX4" fmla="*/ 167648 w 167648"/>
                <a:gd name="connsiteY4" fmla="*/ 83835 h 1676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7649" h="167671">
                  <a:moveTo>
                    <a:pt x="167649" y="83836"/>
                  </a:moveTo>
                  <a:cubicBezTo>
                    <a:pt x="167649" y="130137"/>
                    <a:pt x="130119" y="167671"/>
                    <a:pt x="83824" y="167671"/>
                  </a:cubicBezTo>
                  <a:cubicBezTo>
                    <a:pt x="37529" y="167671"/>
                    <a:pt x="0" y="130137"/>
                    <a:pt x="0" y="83836"/>
                  </a:cubicBezTo>
                  <a:cubicBezTo>
                    <a:pt x="0" y="37534"/>
                    <a:pt x="37529" y="0"/>
                    <a:pt x="83824" y="0"/>
                  </a:cubicBezTo>
                  <a:cubicBezTo>
                    <a:pt x="130119" y="0"/>
                    <a:pt x="167649" y="37534"/>
                    <a:pt x="167649" y="83836"/>
                  </a:cubicBezTo>
                  <a:close/>
                </a:path>
              </a:pathLst>
            </a:custGeom>
            <a:solidFill>
              <a:srgbClr val="25ACA6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6743" y="3780"/>
              <a:ext cx="264" cy="264"/>
            </a:xfrm>
            <a:custGeom>
              <a:avLst/>
              <a:gdLst>
                <a:gd name="connisteX0" fmla="*/ 167648 w 167648"/>
                <a:gd name="connsiteY0" fmla="*/ 83835 h 167671"/>
                <a:gd name="connisteX1" fmla="*/ 83824 w 167648"/>
                <a:gd name="connsiteY1" fmla="*/ 167671 h 167671"/>
                <a:gd name="connisteX2" fmla="*/ 0 w 167648"/>
                <a:gd name="connsiteY2" fmla="*/ 83835 h 167671"/>
                <a:gd name="connisteX3" fmla="*/ 83824 w 167648"/>
                <a:gd name="connsiteY3" fmla="*/ 0 h 167671"/>
                <a:gd name="connisteX4" fmla="*/ 167648 w 167648"/>
                <a:gd name="connsiteY4" fmla="*/ 83835 h 16767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7649" h="167671">
                  <a:moveTo>
                    <a:pt x="167649" y="83836"/>
                  </a:moveTo>
                  <a:cubicBezTo>
                    <a:pt x="167649" y="130137"/>
                    <a:pt x="130119" y="167671"/>
                    <a:pt x="83824" y="167671"/>
                  </a:cubicBezTo>
                  <a:cubicBezTo>
                    <a:pt x="37529" y="167671"/>
                    <a:pt x="0" y="130137"/>
                    <a:pt x="0" y="83836"/>
                  </a:cubicBezTo>
                  <a:cubicBezTo>
                    <a:pt x="0" y="37534"/>
                    <a:pt x="37529" y="0"/>
                    <a:pt x="83824" y="0"/>
                  </a:cubicBezTo>
                  <a:cubicBezTo>
                    <a:pt x="130119" y="0"/>
                    <a:pt x="167649" y="37534"/>
                    <a:pt x="167649" y="83836"/>
                  </a:cubicBezTo>
                  <a:close/>
                </a:path>
              </a:pathLst>
            </a:custGeom>
            <a:solidFill>
              <a:srgbClr val="57B8E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4883" y="4440"/>
              <a:ext cx="600" cy="600"/>
            </a:xfrm>
            <a:custGeom>
              <a:avLst/>
              <a:gdLst>
                <a:gd name="connisteX0" fmla="*/ 381019 w 381019"/>
                <a:gd name="connsiteY0" fmla="*/ 190535 h 381070"/>
                <a:gd name="connisteX1" fmla="*/ 190509 w 381019"/>
                <a:gd name="connsiteY1" fmla="*/ 381070 h 381070"/>
                <a:gd name="connisteX2" fmla="*/ 0 w 381019"/>
                <a:gd name="connsiteY2" fmla="*/ 190535 h 381070"/>
                <a:gd name="connisteX3" fmla="*/ 190509 w 381019"/>
                <a:gd name="connsiteY3" fmla="*/ 0 h 381070"/>
                <a:gd name="connisteX4" fmla="*/ 381019 w 381019"/>
                <a:gd name="connsiteY4" fmla="*/ 190535 h 3810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81020" h="381071">
                  <a:moveTo>
                    <a:pt x="381020" y="190535"/>
                  </a:moveTo>
                  <a:cubicBezTo>
                    <a:pt x="381020" y="295765"/>
                    <a:pt x="295726" y="381071"/>
                    <a:pt x="190510" y="381071"/>
                  </a:cubicBezTo>
                  <a:cubicBezTo>
                    <a:pt x="85294" y="381071"/>
                    <a:pt x="0" y="295765"/>
                    <a:pt x="0" y="190535"/>
                  </a:cubicBezTo>
                  <a:cubicBezTo>
                    <a:pt x="0" y="85306"/>
                    <a:pt x="85294" y="0"/>
                    <a:pt x="190510" y="0"/>
                  </a:cubicBezTo>
                  <a:cubicBezTo>
                    <a:pt x="295726" y="0"/>
                    <a:pt x="381020" y="85306"/>
                    <a:pt x="381020" y="190535"/>
                  </a:cubicBezTo>
                  <a:close/>
                </a:path>
              </a:pathLst>
            </a:custGeom>
            <a:solidFill>
              <a:srgbClr val="56B6E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6227" y="4356"/>
              <a:ext cx="696" cy="696"/>
            </a:xfrm>
            <a:custGeom>
              <a:avLst/>
              <a:gdLst>
                <a:gd name="connisteX0" fmla="*/ 441983 w 441983"/>
                <a:gd name="connsiteY0" fmla="*/ 221020 h 442041"/>
                <a:gd name="connisteX1" fmla="*/ 220991 w 441983"/>
                <a:gd name="connsiteY1" fmla="*/ 442041 h 442041"/>
                <a:gd name="connisteX2" fmla="*/ 0 w 441983"/>
                <a:gd name="connsiteY2" fmla="*/ 221020 h 442041"/>
                <a:gd name="connisteX3" fmla="*/ 220991 w 441983"/>
                <a:gd name="connsiteY3" fmla="*/ 0 h 442041"/>
                <a:gd name="connisteX4" fmla="*/ 441983 w 441983"/>
                <a:gd name="connsiteY4" fmla="*/ 221020 h 44204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41983" h="442042">
                  <a:moveTo>
                    <a:pt x="441983" y="221021"/>
                  </a:moveTo>
                  <a:cubicBezTo>
                    <a:pt x="441983" y="343087"/>
                    <a:pt x="343042" y="442042"/>
                    <a:pt x="220992" y="442042"/>
                  </a:cubicBezTo>
                  <a:cubicBezTo>
                    <a:pt x="98941" y="442042"/>
                    <a:pt x="0" y="343087"/>
                    <a:pt x="0" y="221021"/>
                  </a:cubicBezTo>
                  <a:cubicBezTo>
                    <a:pt x="0" y="98954"/>
                    <a:pt x="98941" y="0"/>
                    <a:pt x="220992" y="0"/>
                  </a:cubicBezTo>
                  <a:cubicBezTo>
                    <a:pt x="343042" y="0"/>
                    <a:pt x="441983" y="98954"/>
                    <a:pt x="441983" y="221021"/>
                  </a:cubicBezTo>
                  <a:close/>
                </a:path>
              </a:pathLst>
            </a:custGeom>
            <a:solidFill>
              <a:srgbClr val="459ED5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5759" y="4812"/>
              <a:ext cx="240" cy="240"/>
            </a:xfrm>
            <a:custGeom>
              <a:avLst/>
              <a:gdLst>
                <a:gd name="connisteX0" fmla="*/ 152407 w 152407"/>
                <a:gd name="connsiteY0" fmla="*/ 76214 h 152428"/>
                <a:gd name="connisteX1" fmla="*/ 76203 w 152407"/>
                <a:gd name="connsiteY1" fmla="*/ 152428 h 152428"/>
                <a:gd name="connisteX2" fmla="*/ 0 w 152407"/>
                <a:gd name="connsiteY2" fmla="*/ 76214 h 152428"/>
                <a:gd name="connisteX3" fmla="*/ 76203 w 152407"/>
                <a:gd name="connsiteY3" fmla="*/ 0 h 152428"/>
                <a:gd name="connisteX4" fmla="*/ 152407 w 152407"/>
                <a:gd name="connsiteY4" fmla="*/ 76214 h 1524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52408" h="152428">
                  <a:moveTo>
                    <a:pt x="152408" y="76214"/>
                  </a:moveTo>
                  <a:cubicBezTo>
                    <a:pt x="152408" y="118306"/>
                    <a:pt x="118290" y="152428"/>
                    <a:pt x="76204" y="152428"/>
                  </a:cubicBezTo>
                  <a:cubicBezTo>
                    <a:pt x="34118" y="152428"/>
                    <a:pt x="0" y="118306"/>
                    <a:pt x="0" y="76214"/>
                  </a:cubicBezTo>
                  <a:cubicBezTo>
                    <a:pt x="0" y="34122"/>
                    <a:pt x="34118" y="0"/>
                    <a:pt x="76204" y="0"/>
                  </a:cubicBezTo>
                  <a:cubicBezTo>
                    <a:pt x="118290" y="0"/>
                    <a:pt x="152408" y="34122"/>
                    <a:pt x="152408" y="76214"/>
                  </a:cubicBezTo>
                  <a:close/>
                </a:path>
              </a:pathLst>
            </a:custGeom>
            <a:solidFill>
              <a:srgbClr val="44AD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5495" y="3672"/>
              <a:ext cx="768" cy="768"/>
            </a:xfrm>
            <a:custGeom>
              <a:avLst/>
              <a:gdLst>
                <a:gd name="connisteX0" fmla="*/ 487705 w 487705"/>
                <a:gd name="connsiteY0" fmla="*/ 243885 h 487770"/>
                <a:gd name="connisteX1" fmla="*/ 243852 w 487705"/>
                <a:gd name="connsiteY1" fmla="*/ 487770 h 487770"/>
                <a:gd name="connisteX2" fmla="*/ 0 w 487705"/>
                <a:gd name="connsiteY2" fmla="*/ 243885 h 487770"/>
                <a:gd name="connisteX3" fmla="*/ 243852 w 487705"/>
                <a:gd name="connsiteY3" fmla="*/ 0 h 487770"/>
                <a:gd name="connisteX4" fmla="*/ 487705 w 487705"/>
                <a:gd name="connsiteY4" fmla="*/ 243885 h 4877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87705" h="487770">
                  <a:moveTo>
                    <a:pt x="487705" y="243885"/>
                  </a:moveTo>
                  <a:cubicBezTo>
                    <a:pt x="487705" y="378579"/>
                    <a:pt x="378529" y="487770"/>
                    <a:pt x="243853" y="487770"/>
                  </a:cubicBezTo>
                  <a:cubicBezTo>
                    <a:pt x="109177" y="487770"/>
                    <a:pt x="0" y="378579"/>
                    <a:pt x="0" y="243885"/>
                  </a:cubicBezTo>
                  <a:cubicBezTo>
                    <a:pt x="0" y="109191"/>
                    <a:pt x="109177" y="0"/>
                    <a:pt x="243853" y="0"/>
                  </a:cubicBezTo>
                  <a:cubicBezTo>
                    <a:pt x="378529" y="0"/>
                    <a:pt x="487705" y="109191"/>
                    <a:pt x="487705" y="243885"/>
                  </a:cubicBezTo>
                  <a:close/>
                </a:path>
              </a:pathLst>
            </a:custGeom>
            <a:solidFill>
              <a:srgbClr val="268DD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5795" y="3840"/>
              <a:ext cx="168" cy="432"/>
            </a:xfrm>
            <a:custGeom>
              <a:avLst/>
              <a:gdLst>
                <a:gd name="connisteX0" fmla="*/ 0 w 106685"/>
                <a:gd name="connsiteY0" fmla="*/ 6859 h 274370"/>
                <a:gd name="connisteX1" fmla="*/ 7467 w 106685"/>
                <a:gd name="connsiteY1" fmla="*/ 0 h 274370"/>
                <a:gd name="connisteX2" fmla="*/ 99217 w 106685"/>
                <a:gd name="connsiteY2" fmla="*/ 0 h 274370"/>
                <a:gd name="connisteX3" fmla="*/ 106685 w 106685"/>
                <a:gd name="connsiteY3" fmla="*/ 6859 h 274370"/>
                <a:gd name="connisteX4" fmla="*/ 106685 w 106685"/>
                <a:gd name="connsiteY4" fmla="*/ 267511 h 274370"/>
                <a:gd name="connisteX5" fmla="*/ 99217 w 106685"/>
                <a:gd name="connsiteY5" fmla="*/ 274370 h 274370"/>
                <a:gd name="connisteX6" fmla="*/ 7467 w 106685"/>
                <a:gd name="connsiteY6" fmla="*/ 274370 h 274370"/>
                <a:gd name="connisteX7" fmla="*/ 0 w 106685"/>
                <a:gd name="connsiteY7" fmla="*/ 267511 h 274370"/>
                <a:gd name="connisteX8" fmla="*/ 0 w 106685"/>
                <a:gd name="connsiteY8" fmla="*/ 6859 h 2743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06686" h="274371">
                  <a:moveTo>
                    <a:pt x="0" y="6859"/>
                  </a:moveTo>
                  <a:cubicBezTo>
                    <a:pt x="0" y="3071"/>
                    <a:pt x="3344" y="0"/>
                    <a:pt x="7468" y="0"/>
                  </a:cubicBezTo>
                  <a:lnTo>
                    <a:pt x="99218" y="0"/>
                  </a:lnTo>
                  <a:cubicBezTo>
                    <a:pt x="103342" y="0"/>
                    <a:pt x="106686" y="3071"/>
                    <a:pt x="106686" y="6859"/>
                  </a:cubicBezTo>
                  <a:lnTo>
                    <a:pt x="106686" y="267512"/>
                  </a:lnTo>
                  <a:cubicBezTo>
                    <a:pt x="106686" y="271300"/>
                    <a:pt x="103342" y="274371"/>
                    <a:pt x="99218" y="274371"/>
                  </a:cubicBezTo>
                  <a:lnTo>
                    <a:pt x="7468" y="274371"/>
                  </a:lnTo>
                  <a:cubicBezTo>
                    <a:pt x="3344" y="274371"/>
                    <a:pt x="0" y="271300"/>
                    <a:pt x="0" y="267512"/>
                  </a:cubicBezTo>
                  <a:lnTo>
                    <a:pt x="0" y="6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5663" y="3972"/>
              <a:ext cx="432" cy="168"/>
            </a:xfrm>
            <a:custGeom>
              <a:avLst/>
              <a:gdLst>
                <a:gd name="connisteX0" fmla="*/ 0 w 274334"/>
                <a:gd name="connsiteY0" fmla="*/ 7468 h 106699"/>
                <a:gd name="connisteX1" fmla="*/ 6858 w 274334"/>
                <a:gd name="connsiteY1" fmla="*/ 0 h 106699"/>
                <a:gd name="connisteX2" fmla="*/ 267475 w 274334"/>
                <a:gd name="connsiteY2" fmla="*/ 0 h 106699"/>
                <a:gd name="connisteX3" fmla="*/ 274334 w 274334"/>
                <a:gd name="connsiteY3" fmla="*/ 7468 h 106699"/>
                <a:gd name="connisteX4" fmla="*/ 274334 w 274334"/>
                <a:gd name="connsiteY4" fmla="*/ 99230 h 106699"/>
                <a:gd name="connisteX5" fmla="*/ 267475 w 274334"/>
                <a:gd name="connsiteY5" fmla="*/ 106699 h 106699"/>
                <a:gd name="connisteX6" fmla="*/ 6858 w 274334"/>
                <a:gd name="connsiteY6" fmla="*/ 106699 h 106699"/>
                <a:gd name="connisteX7" fmla="*/ 0 w 274334"/>
                <a:gd name="connsiteY7" fmla="*/ 99230 h 106699"/>
                <a:gd name="connisteX8" fmla="*/ 0 w 274334"/>
                <a:gd name="connsiteY8" fmla="*/ 7468 h 10669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74334" h="106700">
                  <a:moveTo>
                    <a:pt x="0" y="7469"/>
                  </a:moveTo>
                  <a:cubicBezTo>
                    <a:pt x="0" y="3344"/>
                    <a:pt x="3071" y="0"/>
                    <a:pt x="6858" y="0"/>
                  </a:cubicBezTo>
                  <a:lnTo>
                    <a:pt x="267476" y="0"/>
                  </a:lnTo>
                  <a:cubicBezTo>
                    <a:pt x="271264" y="0"/>
                    <a:pt x="274334" y="3344"/>
                    <a:pt x="274334" y="7469"/>
                  </a:cubicBezTo>
                  <a:lnTo>
                    <a:pt x="274334" y="99231"/>
                  </a:lnTo>
                  <a:cubicBezTo>
                    <a:pt x="274334" y="103356"/>
                    <a:pt x="271264" y="106700"/>
                    <a:pt x="267476" y="106700"/>
                  </a:cubicBezTo>
                  <a:lnTo>
                    <a:pt x="6858" y="106700"/>
                  </a:lnTo>
                  <a:cubicBezTo>
                    <a:pt x="3071" y="106700"/>
                    <a:pt x="0" y="103356"/>
                    <a:pt x="0" y="99231"/>
                  </a:cubicBezTo>
                  <a:lnTo>
                    <a:pt x="0" y="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5015" y="3072"/>
              <a:ext cx="288" cy="480"/>
            </a:xfrm>
            <a:custGeom>
              <a:avLst/>
              <a:gdLst>
                <a:gd name="connisteX0" fmla="*/ 0 w 182889"/>
                <a:gd name="connsiteY0" fmla="*/ 0 h 304856"/>
                <a:gd name="connisteX1" fmla="*/ 0 w 182889"/>
                <a:gd name="connsiteY1" fmla="*/ 99078 h 304856"/>
                <a:gd name="connisteX2" fmla="*/ 91444 w 182889"/>
                <a:gd name="connsiteY2" fmla="*/ 198156 h 304856"/>
                <a:gd name="connisteX3" fmla="*/ 182889 w 182889"/>
                <a:gd name="connsiteY3" fmla="*/ 99078 h 304856"/>
                <a:gd name="connisteX4" fmla="*/ 182889 w 182889"/>
                <a:gd name="connsiteY4" fmla="*/ 0 h 304856"/>
                <a:gd name="connisteX5" fmla="*/ 91444 w 182889"/>
                <a:gd name="connsiteY5" fmla="*/ 198156 h 304856"/>
                <a:gd name="connisteX6" fmla="*/ 91444 w 182889"/>
                <a:gd name="connsiteY6" fmla="*/ 259127 h 304856"/>
                <a:gd name="connisteX7" fmla="*/ 152407 w 182889"/>
                <a:gd name="connsiteY7" fmla="*/ 304856 h 3048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</a:cxnLst>
              <a:rect l="l" t="t" r="r" b="b"/>
              <a:pathLst>
                <a:path w="182890" h="304856">
                  <a:moveTo>
                    <a:pt x="0" y="0"/>
                  </a:moveTo>
                  <a:lnTo>
                    <a:pt x="0" y="99078"/>
                  </a:lnTo>
                  <a:cubicBezTo>
                    <a:pt x="0" y="165131"/>
                    <a:pt x="30482" y="198157"/>
                    <a:pt x="91445" y="198157"/>
                  </a:cubicBezTo>
                  <a:cubicBezTo>
                    <a:pt x="152408" y="198157"/>
                    <a:pt x="182890" y="165131"/>
                    <a:pt x="182890" y="99078"/>
                  </a:cubicBezTo>
                  <a:lnTo>
                    <a:pt x="182890" y="0"/>
                  </a:lnTo>
                  <a:moveTo>
                    <a:pt x="91445" y="198157"/>
                  </a:moveTo>
                  <a:lnTo>
                    <a:pt x="91445" y="259128"/>
                  </a:lnTo>
                  <a:cubicBezTo>
                    <a:pt x="91445" y="289614"/>
                    <a:pt x="111766" y="304856"/>
                    <a:pt x="152408" y="304856"/>
                  </a:cubicBezTo>
                </a:path>
              </a:pathLst>
            </a:custGeom>
            <a:noFill/>
            <a:ln w="22863" cap="rnd">
              <a:solidFill>
                <a:srgbClr val="FFFF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6455" y="3023"/>
              <a:ext cx="466" cy="457"/>
            </a:xfrm>
            <a:custGeom>
              <a:avLst/>
              <a:gdLst>
                <a:gd name="connisteX0" fmla="*/ 0 w 296298"/>
                <a:gd name="connsiteY0" fmla="*/ 198633 h 290089"/>
                <a:gd name="connisteX1" fmla="*/ 144787 w 296298"/>
                <a:gd name="connsiteY1" fmla="*/ 38583 h 290089"/>
                <a:gd name="connisteX2" fmla="*/ 274334 w 296298"/>
                <a:gd name="connsiteY2" fmla="*/ 23340 h 290089"/>
                <a:gd name="connisteX3" fmla="*/ 251473 w 296298"/>
                <a:gd name="connsiteY3" fmla="*/ 145283 h 290089"/>
                <a:gd name="connisteX4" fmla="*/ 106685 w 296298"/>
                <a:gd name="connsiteY4" fmla="*/ 290089 h 290089"/>
                <a:gd name="connisteX5" fmla="*/ 0 w 296298"/>
                <a:gd name="connsiteY5" fmla="*/ 198633 h 29008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96299" h="290090">
                  <a:moveTo>
                    <a:pt x="0" y="198633"/>
                  </a:moveTo>
                  <a:lnTo>
                    <a:pt x="144788" y="38583"/>
                  </a:lnTo>
                  <a:cubicBezTo>
                    <a:pt x="195590" y="-7145"/>
                    <a:pt x="238772" y="-12226"/>
                    <a:pt x="274334" y="23341"/>
                  </a:cubicBezTo>
                  <a:cubicBezTo>
                    <a:pt x="309896" y="58907"/>
                    <a:pt x="302276" y="99555"/>
                    <a:pt x="251473" y="145283"/>
                  </a:cubicBezTo>
                  <a:lnTo>
                    <a:pt x="106686" y="290090"/>
                  </a:lnTo>
                  <a:lnTo>
                    <a:pt x="0" y="1986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任意多边形 71"/>
            <p:cNvSpPr/>
            <p:nvPr/>
          </p:nvSpPr>
          <p:spPr>
            <a:xfrm>
              <a:off x="5111" y="4572"/>
              <a:ext cx="144" cy="144"/>
            </a:xfrm>
            <a:custGeom>
              <a:avLst/>
              <a:gdLst>
                <a:gd name="connisteX0" fmla="*/ 91444 w 91444"/>
                <a:gd name="connsiteY0" fmla="*/ 45728 h 91456"/>
                <a:gd name="connisteX1" fmla="*/ 45722 w 91444"/>
                <a:gd name="connsiteY1" fmla="*/ 91456 h 91456"/>
                <a:gd name="connisteX2" fmla="*/ 0 w 91444"/>
                <a:gd name="connsiteY2" fmla="*/ 45728 h 91456"/>
                <a:gd name="connisteX3" fmla="*/ 45722 w 91444"/>
                <a:gd name="connsiteY3" fmla="*/ 0 h 91456"/>
                <a:gd name="connisteX4" fmla="*/ 91444 w 91444"/>
                <a:gd name="connsiteY4" fmla="*/ 45728 h 914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1445" h="91457">
                  <a:moveTo>
                    <a:pt x="91445" y="45728"/>
                  </a:moveTo>
                  <a:cubicBezTo>
                    <a:pt x="91445" y="70984"/>
                    <a:pt x="70974" y="91457"/>
                    <a:pt x="45722" y="91457"/>
                  </a:cubicBezTo>
                  <a:cubicBezTo>
                    <a:pt x="20471" y="91457"/>
                    <a:pt x="0" y="70984"/>
                    <a:pt x="0" y="45728"/>
                  </a:cubicBezTo>
                  <a:cubicBezTo>
                    <a:pt x="0" y="20473"/>
                    <a:pt x="20471" y="0"/>
                    <a:pt x="45722" y="0"/>
                  </a:cubicBezTo>
                  <a:cubicBezTo>
                    <a:pt x="70974" y="0"/>
                    <a:pt x="91445" y="20473"/>
                    <a:pt x="91445" y="4572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5051" y="4764"/>
              <a:ext cx="264" cy="132"/>
            </a:xfrm>
            <a:custGeom>
              <a:avLst/>
              <a:gdLst>
                <a:gd name="connisteX0" fmla="*/ 0 w 167648"/>
                <a:gd name="connsiteY0" fmla="*/ 22635 h 83835"/>
                <a:gd name="connisteX1" fmla="*/ 22632 w 167648"/>
                <a:gd name="connsiteY1" fmla="*/ 0 h 83835"/>
                <a:gd name="connisteX2" fmla="*/ 145016 w 167648"/>
                <a:gd name="connsiteY2" fmla="*/ 0 h 83835"/>
                <a:gd name="connisteX3" fmla="*/ 167648 w 167648"/>
                <a:gd name="connsiteY3" fmla="*/ 22635 h 83835"/>
                <a:gd name="connisteX4" fmla="*/ 167648 w 167648"/>
                <a:gd name="connsiteY4" fmla="*/ 61199 h 83835"/>
                <a:gd name="connisteX5" fmla="*/ 145016 w 167648"/>
                <a:gd name="connsiteY5" fmla="*/ 83835 h 83835"/>
                <a:gd name="connisteX6" fmla="*/ 22632 w 167648"/>
                <a:gd name="connsiteY6" fmla="*/ 83835 h 83835"/>
                <a:gd name="connisteX7" fmla="*/ 0 w 167648"/>
                <a:gd name="connsiteY7" fmla="*/ 61199 h 83835"/>
                <a:gd name="connisteX8" fmla="*/ 0 w 167648"/>
                <a:gd name="connsiteY8" fmla="*/ 22635 h 838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7649" h="83836">
                  <a:moveTo>
                    <a:pt x="0" y="22636"/>
                  </a:moveTo>
                  <a:cubicBezTo>
                    <a:pt x="0" y="10134"/>
                    <a:pt x="10133" y="0"/>
                    <a:pt x="22633" y="0"/>
                  </a:cubicBezTo>
                  <a:lnTo>
                    <a:pt x="145016" y="0"/>
                  </a:lnTo>
                  <a:cubicBezTo>
                    <a:pt x="157516" y="0"/>
                    <a:pt x="167649" y="10134"/>
                    <a:pt x="167649" y="22636"/>
                  </a:cubicBezTo>
                  <a:lnTo>
                    <a:pt x="167649" y="61200"/>
                  </a:lnTo>
                  <a:cubicBezTo>
                    <a:pt x="167649" y="73701"/>
                    <a:pt x="157516" y="83836"/>
                    <a:pt x="145016" y="83836"/>
                  </a:cubicBezTo>
                  <a:lnTo>
                    <a:pt x="22633" y="83836"/>
                  </a:lnTo>
                  <a:cubicBezTo>
                    <a:pt x="10133" y="83836"/>
                    <a:pt x="0" y="73701"/>
                    <a:pt x="0" y="61200"/>
                  </a:cubicBezTo>
                  <a:lnTo>
                    <a:pt x="0" y="226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6338" y="4504"/>
              <a:ext cx="513" cy="452"/>
            </a:xfrm>
            <a:custGeom>
              <a:avLst/>
              <a:gdLst>
                <a:gd name="connisteX0" fmla="*/ 28408 w 325603"/>
                <a:gd name="connsiteY0" fmla="*/ 112164 h 287457"/>
                <a:gd name="connisteX1" fmla="*/ 96991 w 325603"/>
                <a:gd name="connsiteY1" fmla="*/ 20708 h 287457"/>
                <a:gd name="connisteX2" fmla="*/ 150334 w 325603"/>
                <a:gd name="connsiteY2" fmla="*/ 74057 h 287457"/>
                <a:gd name="connisteX3" fmla="*/ 203677 w 325603"/>
                <a:gd name="connsiteY3" fmla="*/ 20708 h 287457"/>
                <a:gd name="connisteX4" fmla="*/ 272260 w 325603"/>
                <a:gd name="connsiteY4" fmla="*/ 180757 h 287457"/>
                <a:gd name="connisteX5" fmla="*/ 150334 w 325603"/>
                <a:gd name="connsiteY5" fmla="*/ 287457 h 287457"/>
                <a:gd name="connisteX6" fmla="*/ 28408 w 325603"/>
                <a:gd name="connsiteY6" fmla="*/ 112164 h 28745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325604" h="287457">
                  <a:moveTo>
                    <a:pt x="28408" y="112165"/>
                  </a:moveTo>
                  <a:cubicBezTo>
                    <a:pt x="-40175" y="35951"/>
                    <a:pt x="28408" y="-25020"/>
                    <a:pt x="96992" y="20708"/>
                  </a:cubicBezTo>
                  <a:lnTo>
                    <a:pt x="150335" y="74058"/>
                  </a:lnTo>
                  <a:lnTo>
                    <a:pt x="203677" y="20708"/>
                  </a:lnTo>
                  <a:cubicBezTo>
                    <a:pt x="295122" y="-47885"/>
                    <a:pt x="386567" y="66436"/>
                    <a:pt x="272261" y="180758"/>
                  </a:cubicBezTo>
                  <a:lnTo>
                    <a:pt x="150335" y="287457"/>
                  </a:lnTo>
                  <a:lnTo>
                    <a:pt x="28408" y="112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6395" y="4632"/>
              <a:ext cx="348" cy="180"/>
            </a:xfrm>
            <a:custGeom>
              <a:avLst/>
              <a:gdLst>
                <a:gd name="connisteX0" fmla="*/ 0 w 220991"/>
                <a:gd name="connsiteY0" fmla="*/ 60971 h 114321"/>
                <a:gd name="connisteX1" fmla="*/ 60963 w 220991"/>
                <a:gd name="connsiteY1" fmla="*/ 60971 h 114321"/>
                <a:gd name="connisteX2" fmla="*/ 99065 w 220991"/>
                <a:gd name="connsiteY2" fmla="*/ 0 h 114321"/>
                <a:gd name="connisteX3" fmla="*/ 129546 w 220991"/>
                <a:gd name="connsiteY3" fmla="*/ 114321 h 114321"/>
                <a:gd name="connisteX4" fmla="*/ 175269 w 220991"/>
                <a:gd name="connsiteY4" fmla="*/ 38107 h 114321"/>
                <a:gd name="connisteX5" fmla="*/ 220991 w 220991"/>
                <a:gd name="connsiteY5" fmla="*/ 38107 h 11432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</a:cxnLst>
              <a:rect l="l" t="t" r="r" b="b"/>
              <a:pathLst>
                <a:path w="220992" h="114321">
                  <a:moveTo>
                    <a:pt x="0" y="60971"/>
                  </a:moveTo>
                  <a:lnTo>
                    <a:pt x="60963" y="60971"/>
                  </a:lnTo>
                  <a:lnTo>
                    <a:pt x="99065" y="0"/>
                  </a:lnTo>
                  <a:lnTo>
                    <a:pt x="129547" y="114321"/>
                  </a:lnTo>
                  <a:lnTo>
                    <a:pt x="175269" y="38107"/>
                  </a:lnTo>
                  <a:lnTo>
                    <a:pt x="220992" y="38107"/>
                  </a:lnTo>
                </a:path>
              </a:pathLst>
            </a:custGeom>
            <a:noFill/>
            <a:ln w="15242" cap="rnd">
              <a:solidFill>
                <a:srgbClr val="459ED5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4799965" y="2286000"/>
            <a:ext cx="853440" cy="662940"/>
            <a:chOff x="7559" y="3600"/>
            <a:chExt cx="1344" cy="1044"/>
          </a:xfrm>
        </p:grpSpPr>
        <p:sp>
          <p:nvSpPr>
            <p:cNvPr id="77" name="任意多边形 76"/>
            <p:cNvSpPr/>
            <p:nvPr/>
          </p:nvSpPr>
          <p:spPr>
            <a:xfrm>
              <a:off x="7559" y="3600"/>
              <a:ext cx="1344" cy="1044"/>
            </a:xfrm>
            <a:custGeom>
              <a:avLst/>
              <a:gdLst>
                <a:gd name="connisteX0" fmla="*/ 91444 w 853484"/>
                <a:gd name="connsiteY0" fmla="*/ 0 h 663062"/>
                <a:gd name="connisteX1" fmla="*/ 762039 w 853484"/>
                <a:gd name="connsiteY1" fmla="*/ 0 h 663062"/>
                <a:gd name="connisteX2" fmla="*/ 853484 w 853484"/>
                <a:gd name="connsiteY2" fmla="*/ 91456 h 663062"/>
                <a:gd name="connisteX3" fmla="*/ 853484 w 853484"/>
                <a:gd name="connsiteY3" fmla="*/ 457284 h 663062"/>
                <a:gd name="connisteX4" fmla="*/ 762039 w 853484"/>
                <a:gd name="connsiteY4" fmla="*/ 548741 h 663062"/>
                <a:gd name="connisteX5" fmla="*/ 640113 w 853484"/>
                <a:gd name="connsiteY5" fmla="*/ 548741 h 663062"/>
                <a:gd name="connisteX6" fmla="*/ 640113 w 853484"/>
                <a:gd name="connsiteY6" fmla="*/ 663062 h 663062"/>
                <a:gd name="connisteX7" fmla="*/ 518186 w 853484"/>
                <a:gd name="connsiteY7" fmla="*/ 548741 h 663062"/>
                <a:gd name="connisteX8" fmla="*/ 91444 w 853484"/>
                <a:gd name="connsiteY8" fmla="*/ 548741 h 663062"/>
                <a:gd name="connisteX9" fmla="*/ 0 w 853484"/>
                <a:gd name="connsiteY9" fmla="*/ 457284 h 663062"/>
                <a:gd name="connisteX10" fmla="*/ 0 w 853484"/>
                <a:gd name="connsiteY10" fmla="*/ 91456 h 663062"/>
                <a:gd name="connisteX11" fmla="*/ 91444 w 853484"/>
                <a:gd name="connsiteY11" fmla="*/ 0 h 663062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</a:cxnLst>
              <a:rect l="l" t="t" r="r" b="b"/>
              <a:pathLst>
                <a:path w="853484" h="663063">
                  <a:moveTo>
                    <a:pt x="91445" y="0"/>
                  </a:moveTo>
                  <a:lnTo>
                    <a:pt x="762040" y="0"/>
                  </a:lnTo>
                  <a:cubicBezTo>
                    <a:pt x="823003" y="0"/>
                    <a:pt x="853484" y="30486"/>
                    <a:pt x="853484" y="91457"/>
                  </a:cubicBezTo>
                  <a:lnTo>
                    <a:pt x="853484" y="457285"/>
                  </a:lnTo>
                  <a:cubicBezTo>
                    <a:pt x="853484" y="518256"/>
                    <a:pt x="823003" y="548742"/>
                    <a:pt x="762040" y="548742"/>
                  </a:cubicBezTo>
                  <a:lnTo>
                    <a:pt x="640113" y="548742"/>
                  </a:lnTo>
                  <a:lnTo>
                    <a:pt x="640113" y="663063"/>
                  </a:lnTo>
                  <a:lnTo>
                    <a:pt x="518187" y="548742"/>
                  </a:lnTo>
                  <a:lnTo>
                    <a:pt x="91445" y="548742"/>
                  </a:lnTo>
                  <a:cubicBezTo>
                    <a:pt x="30482" y="548742"/>
                    <a:pt x="0" y="518256"/>
                    <a:pt x="0" y="457285"/>
                  </a:cubicBezTo>
                  <a:lnTo>
                    <a:pt x="0" y="91457"/>
                  </a:lnTo>
                  <a:cubicBezTo>
                    <a:pt x="0" y="30486"/>
                    <a:pt x="30482" y="0"/>
                    <a:pt x="91445" y="0"/>
                  </a:cubicBezTo>
                  <a:close/>
                </a:path>
              </a:pathLst>
            </a:custGeom>
            <a:solidFill>
              <a:srgbClr val="F5FAFF"/>
            </a:solidFill>
            <a:ln w="30484" cap="rnd">
              <a:solidFill>
                <a:srgbClr val="86B3DC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任意多边形 77"/>
            <p:cNvSpPr/>
            <p:nvPr/>
          </p:nvSpPr>
          <p:spPr>
            <a:xfrm>
              <a:off x="7679" y="3756"/>
              <a:ext cx="480" cy="480"/>
            </a:xfrm>
            <a:custGeom>
              <a:avLst/>
              <a:gdLst>
                <a:gd name="connisteX0" fmla="*/ 304815 w 304815"/>
                <a:gd name="connsiteY0" fmla="*/ 152428 h 304856"/>
                <a:gd name="connisteX1" fmla="*/ 152407 w 304815"/>
                <a:gd name="connsiteY1" fmla="*/ 304856 h 304856"/>
                <a:gd name="connisteX2" fmla="*/ 0 w 304815"/>
                <a:gd name="connsiteY2" fmla="*/ 152428 h 304856"/>
                <a:gd name="connisteX3" fmla="*/ 152407 w 304815"/>
                <a:gd name="connsiteY3" fmla="*/ 0 h 304856"/>
                <a:gd name="connisteX4" fmla="*/ 304815 w 304815"/>
                <a:gd name="connsiteY4" fmla="*/ 152428 h 30485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04816" h="304856">
                  <a:moveTo>
                    <a:pt x="304816" y="152428"/>
                  </a:moveTo>
                  <a:cubicBezTo>
                    <a:pt x="304816" y="236612"/>
                    <a:pt x="236581" y="304856"/>
                    <a:pt x="152408" y="304856"/>
                  </a:cubicBezTo>
                  <a:cubicBezTo>
                    <a:pt x="68235" y="304856"/>
                    <a:pt x="0" y="236612"/>
                    <a:pt x="0" y="152428"/>
                  </a:cubicBezTo>
                  <a:cubicBezTo>
                    <a:pt x="0" y="68244"/>
                    <a:pt x="68235" y="0"/>
                    <a:pt x="152408" y="0"/>
                  </a:cubicBezTo>
                  <a:cubicBezTo>
                    <a:pt x="236581" y="0"/>
                    <a:pt x="304816" y="68244"/>
                    <a:pt x="304816" y="152428"/>
                  </a:cubicBezTo>
                  <a:close/>
                </a:path>
              </a:pathLst>
            </a:custGeom>
            <a:solidFill>
              <a:srgbClr val="5399D1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709" y="3738"/>
              <a:ext cx="508" cy="580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b="1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ea typeface="Microsoft YaHei UI" panose="020B0503020204020204" charset="-122"/>
                </a:rPr>
                <a:t>?</a:t>
              </a:r>
              <a:endParaRPr lang="zh-CN" altLang="en-US" b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8303" y="3936"/>
              <a:ext cx="372" cy="0"/>
            </a:xfrm>
            <a:custGeom>
              <a:avLst/>
              <a:gdLst>
                <a:gd name="connisteX0" fmla="*/ 0 w 236232"/>
                <a:gd name="connsiteY0" fmla="*/ 0 h 0"/>
                <a:gd name="connisteX1" fmla="*/ 236232 w 23623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36232">
                  <a:moveTo>
                    <a:pt x="0" y="0"/>
                  </a:moveTo>
                  <a:lnTo>
                    <a:pt x="236232" y="0"/>
                  </a:lnTo>
                </a:path>
              </a:pathLst>
            </a:custGeom>
            <a:solidFill>
              <a:srgbClr val="000000"/>
            </a:solidFill>
            <a:ln w="30484" cap="rnd">
              <a:solidFill>
                <a:srgbClr val="8BBBE0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8303" y="4104"/>
              <a:ext cx="372" cy="0"/>
            </a:xfrm>
            <a:custGeom>
              <a:avLst/>
              <a:gdLst>
                <a:gd name="connisteX0" fmla="*/ 0 w 236232"/>
                <a:gd name="connsiteY0" fmla="*/ 0 h 0"/>
                <a:gd name="connisteX1" fmla="*/ 236232 w 23623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36232">
                  <a:moveTo>
                    <a:pt x="0" y="0"/>
                  </a:moveTo>
                  <a:lnTo>
                    <a:pt x="236232" y="0"/>
                  </a:lnTo>
                </a:path>
              </a:pathLst>
            </a:custGeom>
            <a:solidFill>
              <a:srgbClr val="000000"/>
            </a:solidFill>
            <a:ln w="30484" cap="rnd">
              <a:solidFill>
                <a:srgbClr val="8BBBE0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8303" y="4272"/>
              <a:ext cx="372" cy="0"/>
            </a:xfrm>
            <a:custGeom>
              <a:avLst/>
              <a:gdLst>
                <a:gd name="connisteX0" fmla="*/ 0 w 236232"/>
                <a:gd name="connsiteY0" fmla="*/ 0 h 0"/>
                <a:gd name="connisteX1" fmla="*/ 236232 w 23623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36232">
                  <a:moveTo>
                    <a:pt x="0" y="0"/>
                  </a:moveTo>
                  <a:lnTo>
                    <a:pt x="236232" y="0"/>
                  </a:lnTo>
                </a:path>
              </a:pathLst>
            </a:custGeom>
            <a:solidFill>
              <a:srgbClr val="000000"/>
            </a:solidFill>
            <a:ln w="30484" cap="rnd">
              <a:solidFill>
                <a:srgbClr val="8BBBE0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" name="任意多边形 83"/>
          <p:cNvSpPr/>
          <p:nvPr/>
        </p:nvSpPr>
        <p:spPr>
          <a:xfrm>
            <a:off x="1409065" y="2590800"/>
            <a:ext cx="167640" cy="0"/>
          </a:xfrm>
          <a:custGeom>
            <a:avLst/>
            <a:gdLst>
              <a:gd name="connisteX0" fmla="*/ 0 w 167648"/>
              <a:gd name="connsiteY0" fmla="*/ 0 h 0"/>
              <a:gd name="connisteX1" fmla="*/ 167648 w 167648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67649">
                <a:moveTo>
                  <a:pt x="0" y="0"/>
                </a:moveTo>
                <a:lnTo>
                  <a:pt x="167649" y="0"/>
                </a:lnTo>
              </a:path>
            </a:pathLst>
          </a:custGeom>
          <a:solidFill>
            <a:srgbClr val="000000"/>
          </a:solidFill>
          <a:ln w="45725" cap="rnd">
            <a:solidFill>
              <a:srgbClr val="83B6E2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任意多边形 84"/>
          <p:cNvSpPr/>
          <p:nvPr/>
        </p:nvSpPr>
        <p:spPr>
          <a:xfrm>
            <a:off x="1530985" y="2506980"/>
            <a:ext cx="99060" cy="167640"/>
          </a:xfrm>
          <a:custGeom>
            <a:avLst/>
            <a:gdLst>
              <a:gd name="connisteX0" fmla="*/ 0 w 99065"/>
              <a:gd name="connsiteY0" fmla="*/ 0 h 167671"/>
              <a:gd name="connisteX1" fmla="*/ 99065 w 99065"/>
              <a:gd name="connsiteY1" fmla="*/ 83835 h 167671"/>
              <a:gd name="connisteX2" fmla="*/ 0 w 99065"/>
              <a:gd name="connsiteY2" fmla="*/ 167671 h 167671"/>
              <a:gd name="connisteX3" fmla="*/ 0 w 99065"/>
              <a:gd name="connsiteY3" fmla="*/ 0 h 1676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99065" h="167671">
                <a:moveTo>
                  <a:pt x="0" y="0"/>
                </a:moveTo>
                <a:lnTo>
                  <a:pt x="99065" y="83836"/>
                </a:lnTo>
                <a:lnTo>
                  <a:pt x="0" y="167671"/>
                </a:lnTo>
                <a:lnTo>
                  <a:pt x="0" y="0"/>
                </a:lnTo>
                <a:close/>
              </a:path>
            </a:pathLst>
          </a:custGeom>
          <a:solidFill>
            <a:srgbClr val="83B6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6" name="任意多边形 85"/>
          <p:cNvSpPr/>
          <p:nvPr/>
        </p:nvSpPr>
        <p:spPr>
          <a:xfrm>
            <a:off x="2933065" y="2590800"/>
            <a:ext cx="144780" cy="0"/>
          </a:xfrm>
          <a:custGeom>
            <a:avLst/>
            <a:gdLst>
              <a:gd name="connisteX0" fmla="*/ 0 w 144787"/>
              <a:gd name="connsiteY0" fmla="*/ 0 h 0"/>
              <a:gd name="connisteX1" fmla="*/ 144787 w 144787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44788">
                <a:moveTo>
                  <a:pt x="0" y="0"/>
                </a:moveTo>
                <a:lnTo>
                  <a:pt x="144788" y="0"/>
                </a:lnTo>
              </a:path>
            </a:pathLst>
          </a:custGeom>
          <a:solidFill>
            <a:srgbClr val="000000"/>
          </a:solidFill>
          <a:ln w="45725" cap="rnd">
            <a:solidFill>
              <a:srgbClr val="83B6E2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任意多边形 86"/>
          <p:cNvSpPr/>
          <p:nvPr/>
        </p:nvSpPr>
        <p:spPr>
          <a:xfrm>
            <a:off x="3032125" y="2506980"/>
            <a:ext cx="99060" cy="167640"/>
          </a:xfrm>
          <a:custGeom>
            <a:avLst/>
            <a:gdLst>
              <a:gd name="connisteX0" fmla="*/ 0 w 99065"/>
              <a:gd name="connsiteY0" fmla="*/ 0 h 167671"/>
              <a:gd name="connisteX1" fmla="*/ 99065 w 99065"/>
              <a:gd name="connsiteY1" fmla="*/ 83835 h 167671"/>
              <a:gd name="connisteX2" fmla="*/ 0 w 99065"/>
              <a:gd name="connsiteY2" fmla="*/ 167671 h 167671"/>
              <a:gd name="connisteX3" fmla="*/ 0 w 99065"/>
              <a:gd name="connsiteY3" fmla="*/ 0 h 1676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99065" h="167671">
                <a:moveTo>
                  <a:pt x="0" y="0"/>
                </a:moveTo>
                <a:lnTo>
                  <a:pt x="99065" y="83836"/>
                </a:lnTo>
                <a:lnTo>
                  <a:pt x="0" y="167671"/>
                </a:lnTo>
                <a:lnTo>
                  <a:pt x="0" y="0"/>
                </a:lnTo>
                <a:close/>
              </a:path>
            </a:pathLst>
          </a:custGeom>
          <a:solidFill>
            <a:srgbClr val="83B6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8" name="任意多边形 87"/>
          <p:cNvSpPr/>
          <p:nvPr/>
        </p:nvSpPr>
        <p:spPr>
          <a:xfrm>
            <a:off x="4487545" y="2590800"/>
            <a:ext cx="160020" cy="0"/>
          </a:xfrm>
          <a:custGeom>
            <a:avLst/>
            <a:gdLst>
              <a:gd name="connisteX0" fmla="*/ 0 w 160028"/>
              <a:gd name="connsiteY0" fmla="*/ 0 h 0"/>
              <a:gd name="connisteX1" fmla="*/ 160028 w 160028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60028">
                <a:moveTo>
                  <a:pt x="0" y="0"/>
                </a:moveTo>
                <a:lnTo>
                  <a:pt x="160028" y="0"/>
                </a:lnTo>
              </a:path>
            </a:pathLst>
          </a:custGeom>
          <a:solidFill>
            <a:srgbClr val="000000"/>
          </a:solidFill>
          <a:ln w="45725" cap="rnd">
            <a:solidFill>
              <a:srgbClr val="83B6E2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任意多边形 88"/>
          <p:cNvSpPr/>
          <p:nvPr/>
        </p:nvSpPr>
        <p:spPr>
          <a:xfrm>
            <a:off x="4601845" y="2506980"/>
            <a:ext cx="99060" cy="167640"/>
          </a:xfrm>
          <a:custGeom>
            <a:avLst/>
            <a:gdLst>
              <a:gd name="connisteX0" fmla="*/ 0 w 99065"/>
              <a:gd name="connsiteY0" fmla="*/ 0 h 167671"/>
              <a:gd name="connisteX1" fmla="*/ 99065 w 99065"/>
              <a:gd name="connsiteY1" fmla="*/ 83835 h 167671"/>
              <a:gd name="connisteX2" fmla="*/ 0 w 99065"/>
              <a:gd name="connsiteY2" fmla="*/ 167671 h 167671"/>
              <a:gd name="connisteX3" fmla="*/ 0 w 99065"/>
              <a:gd name="connsiteY3" fmla="*/ 0 h 1676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99065" h="167671">
                <a:moveTo>
                  <a:pt x="0" y="0"/>
                </a:moveTo>
                <a:lnTo>
                  <a:pt x="99065" y="83836"/>
                </a:lnTo>
                <a:lnTo>
                  <a:pt x="0" y="167671"/>
                </a:lnTo>
                <a:lnTo>
                  <a:pt x="0" y="0"/>
                </a:lnTo>
                <a:close/>
              </a:path>
            </a:pathLst>
          </a:custGeom>
          <a:solidFill>
            <a:srgbClr val="83B6E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434340" y="3204210"/>
            <a:ext cx="944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5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医疗文本</a:t>
            </a:r>
            <a:endParaRPr lang="zh-CN" altLang="en-US" sz="15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24485" y="3505835"/>
            <a:ext cx="114300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病历、指南、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26390" y="3711575"/>
            <a:ext cx="114300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文献、问答等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614805" y="3200400"/>
            <a:ext cx="141605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5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实体/关系抽取</a:t>
            </a:r>
            <a:endParaRPr lang="zh-CN" altLang="en-US" sz="15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751330" y="3505835"/>
            <a:ext cx="114300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识别医疗实体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909445" y="3711575"/>
            <a:ext cx="82296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及其关系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086735" y="3200400"/>
            <a:ext cx="1325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5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医疗知识图谱</a:t>
            </a:r>
            <a:endParaRPr lang="zh-CN" altLang="en-US" sz="15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331845" y="3505835"/>
            <a:ext cx="82296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结构化的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3175635" y="3711575"/>
            <a:ext cx="114300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医疗知识网络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4798695" y="3208020"/>
            <a:ext cx="9448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5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问答支持</a:t>
            </a:r>
            <a:endParaRPr lang="zh-CN" altLang="en-US" sz="15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97400" y="3505835"/>
            <a:ext cx="130302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面向患者、医生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4677410" y="3710940"/>
            <a:ext cx="114300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和科研人员的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680585" y="3917315"/>
            <a:ext cx="1143000" cy="28448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260">
                <a:solidFill>
                  <a:srgbClr val="657A9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智能问答服务</a:t>
            </a:r>
            <a:endParaRPr lang="zh-CN" altLang="en-US" sz="1260">
              <a:solidFill>
                <a:srgbClr val="657A9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288925" y="4366895"/>
            <a:ext cx="5593080" cy="495300"/>
          </a:xfrm>
          <a:custGeom>
            <a:avLst/>
            <a:gdLst>
              <a:gd name="connisteX0" fmla="*/ 0 w 5593371"/>
              <a:gd name="connsiteY0" fmla="*/ 99078 h 495391"/>
              <a:gd name="connisteX1" fmla="*/ 83900 w 5593371"/>
              <a:gd name="connsiteY1" fmla="*/ 0 h 495391"/>
              <a:gd name="connisteX2" fmla="*/ 5509470 w 5593371"/>
              <a:gd name="connsiteY2" fmla="*/ 0 h 495391"/>
              <a:gd name="connisteX3" fmla="*/ 5593371 w 5593371"/>
              <a:gd name="connsiteY3" fmla="*/ 99078 h 495391"/>
              <a:gd name="connisteX4" fmla="*/ 5593371 w 5593371"/>
              <a:gd name="connsiteY4" fmla="*/ 396313 h 495391"/>
              <a:gd name="connisteX5" fmla="*/ 5509470 w 5593371"/>
              <a:gd name="connsiteY5" fmla="*/ 495391 h 495391"/>
              <a:gd name="connisteX6" fmla="*/ 83900 w 5593371"/>
              <a:gd name="connsiteY6" fmla="*/ 495391 h 495391"/>
              <a:gd name="connisteX7" fmla="*/ 0 w 5593371"/>
              <a:gd name="connsiteY7" fmla="*/ 396313 h 495391"/>
              <a:gd name="connisteX8" fmla="*/ 0 w 5593371"/>
              <a:gd name="connsiteY8" fmla="*/ 99078 h 49539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93371" h="495392">
                <a:moveTo>
                  <a:pt x="0" y="99078"/>
                </a:moveTo>
                <a:cubicBezTo>
                  <a:pt x="0" y="44359"/>
                  <a:pt x="37564" y="0"/>
                  <a:pt x="83901" y="0"/>
                </a:cubicBezTo>
                <a:lnTo>
                  <a:pt x="5509471" y="0"/>
                </a:lnTo>
                <a:cubicBezTo>
                  <a:pt x="5555808" y="0"/>
                  <a:pt x="5593371" y="44359"/>
                  <a:pt x="5593371" y="99078"/>
                </a:cubicBezTo>
                <a:lnTo>
                  <a:pt x="5593371" y="396313"/>
                </a:lnTo>
                <a:cubicBezTo>
                  <a:pt x="5593371" y="451033"/>
                  <a:pt x="5555808" y="495392"/>
                  <a:pt x="5509471" y="495392"/>
                </a:cubicBezTo>
                <a:lnTo>
                  <a:pt x="83901" y="495392"/>
                </a:lnTo>
                <a:cubicBezTo>
                  <a:pt x="37564" y="495392"/>
                  <a:pt x="0" y="451033"/>
                  <a:pt x="0" y="396313"/>
                </a:cubicBezTo>
                <a:lnTo>
                  <a:pt x="0" y="99078"/>
                </a:lnTo>
                <a:close/>
              </a:path>
            </a:pathLst>
          </a:custGeom>
          <a:solidFill>
            <a:srgbClr val="F0F7F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" name="任意多边形 103"/>
          <p:cNvSpPr/>
          <p:nvPr/>
        </p:nvSpPr>
        <p:spPr>
          <a:xfrm>
            <a:off x="448945" y="4393565"/>
            <a:ext cx="441960" cy="441960"/>
          </a:xfrm>
          <a:custGeom>
            <a:avLst/>
            <a:gdLst>
              <a:gd name="connisteX0" fmla="*/ 441983 w 441983"/>
              <a:gd name="connsiteY0" fmla="*/ 221020 h 442041"/>
              <a:gd name="connisteX1" fmla="*/ 220991 w 441983"/>
              <a:gd name="connsiteY1" fmla="*/ 442041 h 442041"/>
              <a:gd name="connisteX2" fmla="*/ 0 w 441983"/>
              <a:gd name="connsiteY2" fmla="*/ 221020 h 442041"/>
              <a:gd name="connisteX3" fmla="*/ 220991 w 441983"/>
              <a:gd name="connsiteY3" fmla="*/ 0 h 442041"/>
              <a:gd name="connisteX4" fmla="*/ 441983 w 441983"/>
              <a:gd name="connsiteY4" fmla="*/ 221020 h 4420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1983" h="442042">
                <a:moveTo>
                  <a:pt x="441983" y="221021"/>
                </a:moveTo>
                <a:cubicBezTo>
                  <a:pt x="441983" y="343087"/>
                  <a:pt x="343042" y="442042"/>
                  <a:pt x="220992" y="442042"/>
                </a:cubicBezTo>
                <a:cubicBezTo>
                  <a:pt x="98941" y="442042"/>
                  <a:pt x="0" y="343087"/>
                  <a:pt x="0" y="221021"/>
                </a:cubicBezTo>
                <a:cubicBezTo>
                  <a:pt x="0" y="98954"/>
                  <a:pt x="98941" y="0"/>
                  <a:pt x="220992" y="0"/>
                </a:cubicBezTo>
                <a:cubicBezTo>
                  <a:pt x="343042" y="0"/>
                  <a:pt x="441983" y="98954"/>
                  <a:pt x="441983" y="221021"/>
                </a:cubicBezTo>
                <a:close/>
              </a:path>
            </a:pathLst>
          </a:custGeom>
          <a:solidFill>
            <a:srgbClr val="DDEFFD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10" name="组合 109"/>
          <p:cNvGrpSpPr/>
          <p:nvPr/>
        </p:nvGrpSpPr>
        <p:grpSpPr>
          <a:xfrm>
            <a:off x="584835" y="4495800"/>
            <a:ext cx="169545" cy="248920"/>
            <a:chOff x="921" y="7080"/>
            <a:chExt cx="267" cy="392"/>
          </a:xfrm>
        </p:grpSpPr>
        <p:sp>
          <p:nvSpPr>
            <p:cNvPr id="105" name="任意多边形 104"/>
            <p:cNvSpPr/>
            <p:nvPr/>
          </p:nvSpPr>
          <p:spPr>
            <a:xfrm>
              <a:off x="921" y="7133"/>
              <a:ext cx="267" cy="277"/>
            </a:xfrm>
            <a:custGeom>
              <a:avLst/>
              <a:gdLst>
                <a:gd name="connisteX0" fmla="*/ 0 w 169825"/>
                <a:gd name="connsiteY0" fmla="*/ 0 h 175510"/>
                <a:gd name="connisteX1" fmla="*/ 169825 w 169825"/>
                <a:gd name="connsiteY1" fmla="*/ 0 h 175510"/>
                <a:gd name="connisteX2" fmla="*/ 169825 w 169825"/>
                <a:gd name="connsiteY2" fmla="*/ 175510 h 175510"/>
                <a:gd name="connisteX3" fmla="*/ 0 w 169825"/>
                <a:gd name="connsiteY3" fmla="*/ 175510 h 175510"/>
                <a:gd name="connisteX4" fmla="*/ 0 w 169825"/>
                <a:gd name="connsiteY4" fmla="*/ 0 h 1755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9826" h="175510">
                  <a:moveTo>
                    <a:pt x="0" y="0"/>
                  </a:moveTo>
                  <a:lnTo>
                    <a:pt x="169826" y="0"/>
                  </a:lnTo>
                  <a:lnTo>
                    <a:pt x="169826" y="175510"/>
                  </a:lnTo>
                  <a:lnTo>
                    <a:pt x="0" y="1755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54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任意多边形 105"/>
            <p:cNvSpPr/>
            <p:nvPr/>
          </p:nvSpPr>
          <p:spPr>
            <a:xfrm>
              <a:off x="921" y="7080"/>
              <a:ext cx="267" cy="107"/>
            </a:xfrm>
            <a:custGeom>
              <a:avLst/>
              <a:gdLst>
                <a:gd name="connisteX0" fmla="*/ 169825 w 169825"/>
                <a:gd name="connsiteY0" fmla="*/ 33969 h 67939"/>
                <a:gd name="connisteX1" fmla="*/ 84912 w 169825"/>
                <a:gd name="connsiteY1" fmla="*/ 67939 h 67939"/>
                <a:gd name="connisteX2" fmla="*/ 0 w 169825"/>
                <a:gd name="connsiteY2" fmla="*/ 33969 h 67939"/>
                <a:gd name="connisteX3" fmla="*/ 84912 w 169825"/>
                <a:gd name="connsiteY3" fmla="*/ 0 h 67939"/>
                <a:gd name="connisteX4" fmla="*/ 169825 w 169825"/>
                <a:gd name="connsiteY4" fmla="*/ 33969 h 67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9826" h="67939">
                  <a:moveTo>
                    <a:pt x="169826" y="33970"/>
                  </a:moveTo>
                  <a:cubicBezTo>
                    <a:pt x="169826" y="52731"/>
                    <a:pt x="131809" y="67939"/>
                    <a:pt x="84913" y="67939"/>
                  </a:cubicBezTo>
                  <a:cubicBezTo>
                    <a:pt x="38017" y="67939"/>
                    <a:pt x="0" y="52731"/>
                    <a:pt x="0" y="33970"/>
                  </a:cubicBezTo>
                  <a:cubicBezTo>
                    <a:pt x="0" y="15209"/>
                    <a:pt x="38017" y="0"/>
                    <a:pt x="84913" y="0"/>
                  </a:cubicBezTo>
                  <a:cubicBezTo>
                    <a:pt x="131809" y="0"/>
                    <a:pt x="169826" y="15209"/>
                    <a:pt x="169826" y="33970"/>
                  </a:cubicBezTo>
                  <a:close/>
                </a:path>
              </a:pathLst>
            </a:custGeom>
            <a:solidFill>
              <a:srgbClr val="075494"/>
            </a:solidFill>
            <a:ln w="11322" cap="flat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任意多边形 106"/>
            <p:cNvSpPr/>
            <p:nvPr/>
          </p:nvSpPr>
          <p:spPr>
            <a:xfrm>
              <a:off x="921" y="7178"/>
              <a:ext cx="267" cy="107"/>
            </a:xfrm>
            <a:custGeom>
              <a:avLst/>
              <a:gdLst>
                <a:gd name="connisteX0" fmla="*/ 169825 w 169825"/>
                <a:gd name="connsiteY0" fmla="*/ 33969 h 67939"/>
                <a:gd name="connisteX1" fmla="*/ 84912 w 169825"/>
                <a:gd name="connsiteY1" fmla="*/ 67939 h 67939"/>
                <a:gd name="connisteX2" fmla="*/ 0 w 169825"/>
                <a:gd name="connsiteY2" fmla="*/ 33969 h 67939"/>
                <a:gd name="connisteX3" fmla="*/ 84912 w 169825"/>
                <a:gd name="connsiteY3" fmla="*/ 0 h 67939"/>
                <a:gd name="connisteX4" fmla="*/ 169825 w 169825"/>
                <a:gd name="connsiteY4" fmla="*/ 33969 h 67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9826" h="67939">
                  <a:moveTo>
                    <a:pt x="169826" y="33970"/>
                  </a:moveTo>
                  <a:cubicBezTo>
                    <a:pt x="169826" y="52731"/>
                    <a:pt x="131809" y="67939"/>
                    <a:pt x="84913" y="67939"/>
                  </a:cubicBezTo>
                  <a:cubicBezTo>
                    <a:pt x="38017" y="67939"/>
                    <a:pt x="0" y="52731"/>
                    <a:pt x="0" y="33970"/>
                  </a:cubicBezTo>
                  <a:cubicBezTo>
                    <a:pt x="0" y="15209"/>
                    <a:pt x="38017" y="0"/>
                    <a:pt x="84913" y="0"/>
                  </a:cubicBezTo>
                  <a:cubicBezTo>
                    <a:pt x="131809" y="0"/>
                    <a:pt x="169826" y="15209"/>
                    <a:pt x="169826" y="33970"/>
                  </a:cubicBezTo>
                  <a:close/>
                </a:path>
              </a:pathLst>
            </a:custGeom>
            <a:solidFill>
              <a:srgbClr val="075494"/>
            </a:solidFill>
            <a:ln w="11322" cap="flat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任意多边形 107"/>
            <p:cNvSpPr/>
            <p:nvPr/>
          </p:nvSpPr>
          <p:spPr>
            <a:xfrm>
              <a:off x="921" y="7285"/>
              <a:ext cx="267" cy="107"/>
            </a:xfrm>
            <a:custGeom>
              <a:avLst/>
              <a:gdLst>
                <a:gd name="connisteX0" fmla="*/ 169825 w 169825"/>
                <a:gd name="connsiteY0" fmla="*/ 33969 h 67939"/>
                <a:gd name="connisteX1" fmla="*/ 84912 w 169825"/>
                <a:gd name="connsiteY1" fmla="*/ 67939 h 67939"/>
                <a:gd name="connisteX2" fmla="*/ 0 w 169825"/>
                <a:gd name="connsiteY2" fmla="*/ 33969 h 67939"/>
                <a:gd name="connisteX3" fmla="*/ 84912 w 169825"/>
                <a:gd name="connsiteY3" fmla="*/ 0 h 67939"/>
                <a:gd name="connisteX4" fmla="*/ 169825 w 169825"/>
                <a:gd name="connsiteY4" fmla="*/ 33969 h 67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9826" h="67939">
                  <a:moveTo>
                    <a:pt x="169826" y="33970"/>
                  </a:moveTo>
                  <a:cubicBezTo>
                    <a:pt x="169826" y="52731"/>
                    <a:pt x="131809" y="67939"/>
                    <a:pt x="84913" y="67939"/>
                  </a:cubicBezTo>
                  <a:cubicBezTo>
                    <a:pt x="38017" y="67939"/>
                    <a:pt x="0" y="52731"/>
                    <a:pt x="0" y="33970"/>
                  </a:cubicBezTo>
                  <a:cubicBezTo>
                    <a:pt x="0" y="15209"/>
                    <a:pt x="38017" y="0"/>
                    <a:pt x="84913" y="0"/>
                  </a:cubicBezTo>
                  <a:cubicBezTo>
                    <a:pt x="131809" y="0"/>
                    <a:pt x="169826" y="15209"/>
                    <a:pt x="169826" y="33970"/>
                  </a:cubicBezTo>
                  <a:close/>
                </a:path>
              </a:pathLst>
            </a:custGeom>
            <a:solidFill>
              <a:srgbClr val="075494"/>
            </a:solidFill>
            <a:ln w="11322" cap="flat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任意多边形 108"/>
            <p:cNvSpPr/>
            <p:nvPr/>
          </p:nvSpPr>
          <p:spPr>
            <a:xfrm>
              <a:off x="921" y="7365"/>
              <a:ext cx="267" cy="107"/>
            </a:xfrm>
            <a:custGeom>
              <a:avLst/>
              <a:gdLst>
                <a:gd name="connisteX0" fmla="*/ 169825 w 169825"/>
                <a:gd name="connsiteY0" fmla="*/ 33969 h 67939"/>
                <a:gd name="connisteX1" fmla="*/ 84912 w 169825"/>
                <a:gd name="connsiteY1" fmla="*/ 67939 h 67939"/>
                <a:gd name="connisteX2" fmla="*/ 0 w 169825"/>
                <a:gd name="connsiteY2" fmla="*/ 33969 h 67939"/>
                <a:gd name="connisteX3" fmla="*/ 84912 w 169825"/>
                <a:gd name="connsiteY3" fmla="*/ 0 h 67939"/>
                <a:gd name="connisteX4" fmla="*/ 169825 w 169825"/>
                <a:gd name="connsiteY4" fmla="*/ 33969 h 6793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69826" h="67939">
                  <a:moveTo>
                    <a:pt x="169826" y="33970"/>
                  </a:moveTo>
                  <a:cubicBezTo>
                    <a:pt x="169826" y="52731"/>
                    <a:pt x="131809" y="67939"/>
                    <a:pt x="84913" y="67939"/>
                  </a:cubicBezTo>
                  <a:cubicBezTo>
                    <a:pt x="38017" y="67939"/>
                    <a:pt x="0" y="52731"/>
                    <a:pt x="0" y="33970"/>
                  </a:cubicBezTo>
                  <a:cubicBezTo>
                    <a:pt x="0" y="15209"/>
                    <a:pt x="38017" y="0"/>
                    <a:pt x="84913" y="0"/>
                  </a:cubicBezTo>
                  <a:cubicBezTo>
                    <a:pt x="131809" y="0"/>
                    <a:pt x="169826" y="15209"/>
                    <a:pt x="169826" y="33970"/>
                  </a:cubicBezTo>
                  <a:close/>
                </a:path>
              </a:pathLst>
            </a:custGeom>
            <a:solidFill>
              <a:srgbClr val="075494"/>
            </a:solidFill>
            <a:ln w="11322" cap="flat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" name="任意多边形 110"/>
          <p:cNvSpPr/>
          <p:nvPr/>
        </p:nvSpPr>
        <p:spPr>
          <a:xfrm>
            <a:off x="1081405" y="4469765"/>
            <a:ext cx="289560" cy="289560"/>
          </a:xfrm>
          <a:custGeom>
            <a:avLst/>
            <a:gdLst>
              <a:gd name="connisteX0" fmla="*/ 289575 w 289575"/>
              <a:gd name="connsiteY0" fmla="*/ 144806 h 289613"/>
              <a:gd name="connisteX1" fmla="*/ 144787 w 289575"/>
              <a:gd name="connsiteY1" fmla="*/ 289613 h 289613"/>
              <a:gd name="connisteX2" fmla="*/ 0 w 289575"/>
              <a:gd name="connsiteY2" fmla="*/ 144806 h 289613"/>
              <a:gd name="connisteX3" fmla="*/ 144787 w 289575"/>
              <a:gd name="connsiteY3" fmla="*/ 0 h 289613"/>
              <a:gd name="connisteX4" fmla="*/ 289575 w 289575"/>
              <a:gd name="connsiteY4" fmla="*/ 144806 h 2896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89575" h="289614">
                <a:moveTo>
                  <a:pt x="289575" y="144807"/>
                </a:moveTo>
                <a:cubicBezTo>
                  <a:pt x="289575" y="224781"/>
                  <a:pt x="224751" y="289614"/>
                  <a:pt x="144788" y="289614"/>
                </a:cubicBezTo>
                <a:cubicBezTo>
                  <a:pt x="64824" y="289614"/>
                  <a:pt x="0" y="224781"/>
                  <a:pt x="0" y="144807"/>
                </a:cubicBezTo>
                <a:cubicBezTo>
                  <a:pt x="0" y="64832"/>
                  <a:pt x="64824" y="0"/>
                  <a:pt x="144788" y="0"/>
                </a:cubicBezTo>
                <a:cubicBezTo>
                  <a:pt x="224751" y="0"/>
                  <a:pt x="289575" y="64832"/>
                  <a:pt x="289575" y="144807"/>
                </a:cubicBezTo>
                <a:close/>
              </a:path>
            </a:pathLst>
          </a:custGeom>
          <a:solidFill>
            <a:srgbClr val="579CD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081405" y="4469765"/>
            <a:ext cx="280035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1</a:t>
            </a:r>
            <a:endParaRPr lang="zh-CN" altLang="en-US" sz="1380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461770" y="4481195"/>
            <a:ext cx="333756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163A6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整合分散的医疗知识，形成结构化表示。</a:t>
            </a:r>
            <a:endParaRPr lang="zh-CN" altLang="en-US" sz="1380">
              <a:solidFill>
                <a:srgbClr val="163A6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任意多边形 113"/>
          <p:cNvSpPr/>
          <p:nvPr/>
        </p:nvSpPr>
        <p:spPr>
          <a:xfrm>
            <a:off x="288925" y="4915535"/>
            <a:ext cx="5593080" cy="495300"/>
          </a:xfrm>
          <a:custGeom>
            <a:avLst/>
            <a:gdLst>
              <a:gd name="connisteX0" fmla="*/ 0 w 5593371"/>
              <a:gd name="connsiteY0" fmla="*/ 99078 h 495391"/>
              <a:gd name="connisteX1" fmla="*/ 83900 w 5593371"/>
              <a:gd name="connsiteY1" fmla="*/ 0 h 495391"/>
              <a:gd name="connisteX2" fmla="*/ 5509470 w 5593371"/>
              <a:gd name="connsiteY2" fmla="*/ 0 h 495391"/>
              <a:gd name="connisteX3" fmla="*/ 5593371 w 5593371"/>
              <a:gd name="connsiteY3" fmla="*/ 99078 h 495391"/>
              <a:gd name="connisteX4" fmla="*/ 5593371 w 5593371"/>
              <a:gd name="connsiteY4" fmla="*/ 396313 h 495391"/>
              <a:gd name="connisteX5" fmla="*/ 5509470 w 5593371"/>
              <a:gd name="connsiteY5" fmla="*/ 495391 h 495391"/>
              <a:gd name="connisteX6" fmla="*/ 83900 w 5593371"/>
              <a:gd name="connsiteY6" fmla="*/ 495391 h 495391"/>
              <a:gd name="connisteX7" fmla="*/ 0 w 5593371"/>
              <a:gd name="connsiteY7" fmla="*/ 396313 h 495391"/>
              <a:gd name="connisteX8" fmla="*/ 0 w 5593371"/>
              <a:gd name="connsiteY8" fmla="*/ 99078 h 49539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93371" h="495392">
                <a:moveTo>
                  <a:pt x="0" y="99078"/>
                </a:moveTo>
                <a:cubicBezTo>
                  <a:pt x="0" y="44359"/>
                  <a:pt x="37564" y="0"/>
                  <a:pt x="83901" y="0"/>
                </a:cubicBezTo>
                <a:lnTo>
                  <a:pt x="5509471" y="0"/>
                </a:lnTo>
                <a:cubicBezTo>
                  <a:pt x="5555808" y="0"/>
                  <a:pt x="5593371" y="44359"/>
                  <a:pt x="5593371" y="99078"/>
                </a:cubicBezTo>
                <a:lnTo>
                  <a:pt x="5593371" y="396313"/>
                </a:lnTo>
                <a:cubicBezTo>
                  <a:pt x="5593371" y="451033"/>
                  <a:pt x="5555808" y="495392"/>
                  <a:pt x="5509471" y="495392"/>
                </a:cubicBezTo>
                <a:lnTo>
                  <a:pt x="83901" y="495392"/>
                </a:lnTo>
                <a:cubicBezTo>
                  <a:pt x="37564" y="495392"/>
                  <a:pt x="0" y="451033"/>
                  <a:pt x="0" y="396313"/>
                </a:cubicBezTo>
                <a:lnTo>
                  <a:pt x="0" y="99078"/>
                </a:lnTo>
                <a:close/>
              </a:path>
            </a:pathLst>
          </a:custGeom>
          <a:solidFill>
            <a:srgbClr val="F0F7F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5" name="任意多边形 114"/>
          <p:cNvSpPr/>
          <p:nvPr/>
        </p:nvSpPr>
        <p:spPr>
          <a:xfrm>
            <a:off x="448945" y="4942205"/>
            <a:ext cx="441960" cy="441960"/>
          </a:xfrm>
          <a:custGeom>
            <a:avLst/>
            <a:gdLst>
              <a:gd name="connisteX0" fmla="*/ 441983 w 441983"/>
              <a:gd name="connsiteY0" fmla="*/ 221020 h 442041"/>
              <a:gd name="connisteX1" fmla="*/ 220991 w 441983"/>
              <a:gd name="connsiteY1" fmla="*/ 442041 h 442041"/>
              <a:gd name="connisteX2" fmla="*/ 0 w 441983"/>
              <a:gd name="connsiteY2" fmla="*/ 221020 h 442041"/>
              <a:gd name="connisteX3" fmla="*/ 220991 w 441983"/>
              <a:gd name="connsiteY3" fmla="*/ 0 h 442041"/>
              <a:gd name="connisteX4" fmla="*/ 441983 w 441983"/>
              <a:gd name="connsiteY4" fmla="*/ 221020 h 4420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1983" h="442042">
                <a:moveTo>
                  <a:pt x="441983" y="221021"/>
                </a:moveTo>
                <a:cubicBezTo>
                  <a:pt x="441983" y="343087"/>
                  <a:pt x="343042" y="442042"/>
                  <a:pt x="220992" y="442042"/>
                </a:cubicBezTo>
                <a:cubicBezTo>
                  <a:pt x="98941" y="442042"/>
                  <a:pt x="0" y="343087"/>
                  <a:pt x="0" y="221021"/>
                </a:cubicBezTo>
                <a:cubicBezTo>
                  <a:pt x="0" y="98954"/>
                  <a:pt x="98941" y="0"/>
                  <a:pt x="220992" y="0"/>
                </a:cubicBezTo>
                <a:cubicBezTo>
                  <a:pt x="343042" y="0"/>
                  <a:pt x="441983" y="98954"/>
                  <a:pt x="441983" y="221021"/>
                </a:cubicBezTo>
                <a:close/>
              </a:path>
            </a:pathLst>
          </a:custGeom>
          <a:solidFill>
            <a:srgbClr val="DDEFFD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20" name="组合 119"/>
          <p:cNvGrpSpPr/>
          <p:nvPr/>
        </p:nvGrpSpPr>
        <p:grpSpPr>
          <a:xfrm>
            <a:off x="584835" y="5038725"/>
            <a:ext cx="169545" cy="248920"/>
            <a:chOff x="921" y="7935"/>
            <a:chExt cx="267" cy="392"/>
          </a:xfrm>
        </p:grpSpPr>
        <p:sp>
          <p:nvSpPr>
            <p:cNvPr id="116" name="任意多边形 115"/>
            <p:cNvSpPr/>
            <p:nvPr/>
          </p:nvSpPr>
          <p:spPr>
            <a:xfrm>
              <a:off x="921" y="7935"/>
              <a:ext cx="267" cy="392"/>
            </a:xfrm>
            <a:custGeom>
              <a:avLst/>
              <a:gdLst>
                <a:gd name="connisteX0" fmla="*/ 0 w 169825"/>
                <a:gd name="connsiteY0" fmla="*/ 22420 h 249111"/>
                <a:gd name="connisteX1" fmla="*/ 22077 w 169825"/>
                <a:gd name="connsiteY1" fmla="*/ 0 h 249111"/>
                <a:gd name="connisteX2" fmla="*/ 147748 w 169825"/>
                <a:gd name="connsiteY2" fmla="*/ 0 h 249111"/>
                <a:gd name="connisteX3" fmla="*/ 169825 w 169825"/>
                <a:gd name="connsiteY3" fmla="*/ 22420 h 249111"/>
                <a:gd name="connisteX4" fmla="*/ 169825 w 169825"/>
                <a:gd name="connsiteY4" fmla="*/ 226691 h 249111"/>
                <a:gd name="connisteX5" fmla="*/ 147748 w 169825"/>
                <a:gd name="connsiteY5" fmla="*/ 249111 h 249111"/>
                <a:gd name="connisteX6" fmla="*/ 22077 w 169825"/>
                <a:gd name="connsiteY6" fmla="*/ 249111 h 249111"/>
                <a:gd name="connisteX7" fmla="*/ 0 w 169825"/>
                <a:gd name="connsiteY7" fmla="*/ 226691 h 249111"/>
                <a:gd name="connisteX8" fmla="*/ 0 w 169825"/>
                <a:gd name="connsiteY8" fmla="*/ 22420 h 24911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69826" h="249111">
                  <a:moveTo>
                    <a:pt x="0" y="22420"/>
                  </a:moveTo>
                  <a:cubicBezTo>
                    <a:pt x="0" y="10038"/>
                    <a:pt x="9884" y="0"/>
                    <a:pt x="22077" y="0"/>
                  </a:cubicBezTo>
                  <a:lnTo>
                    <a:pt x="147749" y="0"/>
                  </a:lnTo>
                  <a:cubicBezTo>
                    <a:pt x="159942" y="0"/>
                    <a:pt x="169826" y="10038"/>
                    <a:pt x="169826" y="22420"/>
                  </a:cubicBezTo>
                  <a:lnTo>
                    <a:pt x="169826" y="226691"/>
                  </a:lnTo>
                  <a:cubicBezTo>
                    <a:pt x="169826" y="239073"/>
                    <a:pt x="159942" y="249111"/>
                    <a:pt x="147749" y="249111"/>
                  </a:cubicBezTo>
                  <a:lnTo>
                    <a:pt x="22077" y="249111"/>
                  </a:lnTo>
                  <a:cubicBezTo>
                    <a:pt x="9884" y="249111"/>
                    <a:pt x="0" y="239073"/>
                    <a:pt x="0" y="226691"/>
                  </a:cubicBezTo>
                  <a:lnTo>
                    <a:pt x="0" y="22420"/>
                  </a:lnTo>
                  <a:close/>
                </a:path>
              </a:pathLst>
            </a:custGeom>
            <a:solidFill>
              <a:srgbClr val="0754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任意多边形 116"/>
            <p:cNvSpPr/>
            <p:nvPr/>
          </p:nvSpPr>
          <p:spPr>
            <a:xfrm>
              <a:off x="992" y="8033"/>
              <a:ext cx="125" cy="0"/>
            </a:xfrm>
            <a:custGeom>
              <a:avLst/>
              <a:gdLst>
                <a:gd name="connisteX0" fmla="*/ 0 w 79252"/>
                <a:gd name="connsiteY0" fmla="*/ 0 h 0"/>
                <a:gd name="connisteX1" fmla="*/ 79252 w 7925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79252">
                  <a:moveTo>
                    <a:pt x="0" y="0"/>
                  </a:moveTo>
                  <a:lnTo>
                    <a:pt x="79252" y="0"/>
                  </a:lnTo>
                </a:path>
              </a:pathLst>
            </a:custGeom>
            <a:solidFill>
              <a:srgbClr val="000000"/>
            </a:solidFill>
            <a:ln w="14153" cap="rnd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任意多边形 117"/>
            <p:cNvSpPr/>
            <p:nvPr/>
          </p:nvSpPr>
          <p:spPr>
            <a:xfrm>
              <a:off x="992" y="8131"/>
              <a:ext cx="125" cy="0"/>
            </a:xfrm>
            <a:custGeom>
              <a:avLst/>
              <a:gdLst>
                <a:gd name="connisteX0" fmla="*/ 0 w 79252"/>
                <a:gd name="connsiteY0" fmla="*/ 0 h 0"/>
                <a:gd name="connisteX1" fmla="*/ 79252 w 7925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79252">
                  <a:moveTo>
                    <a:pt x="0" y="0"/>
                  </a:moveTo>
                  <a:lnTo>
                    <a:pt x="79252" y="0"/>
                  </a:lnTo>
                </a:path>
              </a:pathLst>
            </a:custGeom>
            <a:solidFill>
              <a:srgbClr val="000000"/>
            </a:solidFill>
            <a:ln w="14153" cap="rnd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>
              <a:off x="992" y="8229"/>
              <a:ext cx="125" cy="0"/>
            </a:xfrm>
            <a:custGeom>
              <a:avLst/>
              <a:gdLst>
                <a:gd name="connisteX0" fmla="*/ 0 w 79252"/>
                <a:gd name="connsiteY0" fmla="*/ 0 h 0"/>
                <a:gd name="connisteX1" fmla="*/ 79252 w 7925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79252">
                  <a:moveTo>
                    <a:pt x="0" y="0"/>
                  </a:moveTo>
                  <a:lnTo>
                    <a:pt x="79252" y="0"/>
                  </a:lnTo>
                </a:path>
              </a:pathLst>
            </a:custGeom>
            <a:solidFill>
              <a:srgbClr val="000000"/>
            </a:solidFill>
            <a:ln w="14153" cap="rnd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1" name="任意多边形 120"/>
          <p:cNvSpPr/>
          <p:nvPr/>
        </p:nvSpPr>
        <p:spPr>
          <a:xfrm>
            <a:off x="1081405" y="5018405"/>
            <a:ext cx="289560" cy="289560"/>
          </a:xfrm>
          <a:custGeom>
            <a:avLst/>
            <a:gdLst>
              <a:gd name="connisteX0" fmla="*/ 289575 w 289575"/>
              <a:gd name="connsiteY0" fmla="*/ 144806 h 289613"/>
              <a:gd name="connisteX1" fmla="*/ 144787 w 289575"/>
              <a:gd name="connsiteY1" fmla="*/ 289613 h 289613"/>
              <a:gd name="connisteX2" fmla="*/ 0 w 289575"/>
              <a:gd name="connsiteY2" fmla="*/ 144806 h 289613"/>
              <a:gd name="connisteX3" fmla="*/ 144787 w 289575"/>
              <a:gd name="connsiteY3" fmla="*/ 0 h 289613"/>
              <a:gd name="connisteX4" fmla="*/ 289575 w 289575"/>
              <a:gd name="connsiteY4" fmla="*/ 144806 h 2896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89575" h="289614">
                <a:moveTo>
                  <a:pt x="289575" y="144807"/>
                </a:moveTo>
                <a:cubicBezTo>
                  <a:pt x="289575" y="224781"/>
                  <a:pt x="224751" y="289614"/>
                  <a:pt x="144788" y="289614"/>
                </a:cubicBezTo>
                <a:cubicBezTo>
                  <a:pt x="64824" y="289614"/>
                  <a:pt x="0" y="224781"/>
                  <a:pt x="0" y="144807"/>
                </a:cubicBezTo>
                <a:cubicBezTo>
                  <a:pt x="0" y="64832"/>
                  <a:pt x="64824" y="0"/>
                  <a:pt x="144788" y="0"/>
                </a:cubicBezTo>
                <a:cubicBezTo>
                  <a:pt x="224751" y="0"/>
                  <a:pt x="289575" y="64832"/>
                  <a:pt x="289575" y="144807"/>
                </a:cubicBezTo>
                <a:close/>
              </a:path>
            </a:pathLst>
          </a:custGeom>
          <a:solidFill>
            <a:srgbClr val="579CD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1081405" y="5004435"/>
            <a:ext cx="280035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2</a:t>
            </a:r>
            <a:endParaRPr lang="zh-CN" altLang="en-US" sz="1380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463675" y="5029835"/>
            <a:ext cx="333756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163A6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缓解专业术语复杂、同义表达多的问题。</a:t>
            </a:r>
            <a:endParaRPr lang="zh-CN" altLang="en-US" sz="1380">
              <a:solidFill>
                <a:srgbClr val="163A6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任意多边形 123"/>
          <p:cNvSpPr/>
          <p:nvPr/>
        </p:nvSpPr>
        <p:spPr>
          <a:xfrm>
            <a:off x="288925" y="5464175"/>
            <a:ext cx="5593080" cy="495300"/>
          </a:xfrm>
          <a:custGeom>
            <a:avLst/>
            <a:gdLst>
              <a:gd name="connisteX0" fmla="*/ 0 w 5593371"/>
              <a:gd name="connsiteY0" fmla="*/ 99078 h 495391"/>
              <a:gd name="connisteX1" fmla="*/ 83900 w 5593371"/>
              <a:gd name="connsiteY1" fmla="*/ 0 h 495391"/>
              <a:gd name="connisteX2" fmla="*/ 5509470 w 5593371"/>
              <a:gd name="connsiteY2" fmla="*/ 0 h 495391"/>
              <a:gd name="connisteX3" fmla="*/ 5593371 w 5593371"/>
              <a:gd name="connsiteY3" fmla="*/ 99078 h 495391"/>
              <a:gd name="connisteX4" fmla="*/ 5593371 w 5593371"/>
              <a:gd name="connsiteY4" fmla="*/ 396313 h 495391"/>
              <a:gd name="connisteX5" fmla="*/ 5509470 w 5593371"/>
              <a:gd name="connsiteY5" fmla="*/ 495391 h 495391"/>
              <a:gd name="connisteX6" fmla="*/ 83900 w 5593371"/>
              <a:gd name="connsiteY6" fmla="*/ 495391 h 495391"/>
              <a:gd name="connisteX7" fmla="*/ 0 w 5593371"/>
              <a:gd name="connsiteY7" fmla="*/ 396313 h 495391"/>
              <a:gd name="connisteX8" fmla="*/ 0 w 5593371"/>
              <a:gd name="connsiteY8" fmla="*/ 99078 h 49539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93371" h="495392">
                <a:moveTo>
                  <a:pt x="0" y="99078"/>
                </a:moveTo>
                <a:cubicBezTo>
                  <a:pt x="0" y="44359"/>
                  <a:pt x="37564" y="0"/>
                  <a:pt x="83901" y="0"/>
                </a:cubicBezTo>
                <a:lnTo>
                  <a:pt x="5509471" y="0"/>
                </a:lnTo>
                <a:cubicBezTo>
                  <a:pt x="5555808" y="0"/>
                  <a:pt x="5593371" y="44359"/>
                  <a:pt x="5593371" y="99078"/>
                </a:cubicBezTo>
                <a:lnTo>
                  <a:pt x="5593371" y="396313"/>
                </a:lnTo>
                <a:cubicBezTo>
                  <a:pt x="5593371" y="451033"/>
                  <a:pt x="5555808" y="495392"/>
                  <a:pt x="5509471" y="495392"/>
                </a:cubicBezTo>
                <a:lnTo>
                  <a:pt x="83901" y="495392"/>
                </a:lnTo>
                <a:cubicBezTo>
                  <a:pt x="37564" y="495392"/>
                  <a:pt x="0" y="451033"/>
                  <a:pt x="0" y="396313"/>
                </a:cubicBezTo>
                <a:lnTo>
                  <a:pt x="0" y="99078"/>
                </a:lnTo>
                <a:close/>
              </a:path>
            </a:pathLst>
          </a:custGeom>
          <a:solidFill>
            <a:srgbClr val="F0F7F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5" name="任意多边形 124"/>
          <p:cNvSpPr/>
          <p:nvPr/>
        </p:nvSpPr>
        <p:spPr>
          <a:xfrm>
            <a:off x="448945" y="5490845"/>
            <a:ext cx="441960" cy="441960"/>
          </a:xfrm>
          <a:custGeom>
            <a:avLst/>
            <a:gdLst>
              <a:gd name="connisteX0" fmla="*/ 441983 w 441983"/>
              <a:gd name="connsiteY0" fmla="*/ 221020 h 442041"/>
              <a:gd name="connisteX1" fmla="*/ 220991 w 441983"/>
              <a:gd name="connsiteY1" fmla="*/ 442041 h 442041"/>
              <a:gd name="connisteX2" fmla="*/ 0 w 441983"/>
              <a:gd name="connsiteY2" fmla="*/ 221020 h 442041"/>
              <a:gd name="connisteX3" fmla="*/ 220991 w 441983"/>
              <a:gd name="connsiteY3" fmla="*/ 0 h 442041"/>
              <a:gd name="connisteX4" fmla="*/ 441983 w 441983"/>
              <a:gd name="connsiteY4" fmla="*/ 221020 h 4420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1983" h="442042">
                <a:moveTo>
                  <a:pt x="441983" y="221021"/>
                </a:moveTo>
                <a:cubicBezTo>
                  <a:pt x="441983" y="343087"/>
                  <a:pt x="343042" y="442042"/>
                  <a:pt x="220992" y="442042"/>
                </a:cubicBezTo>
                <a:cubicBezTo>
                  <a:pt x="98941" y="442042"/>
                  <a:pt x="0" y="343087"/>
                  <a:pt x="0" y="221021"/>
                </a:cubicBezTo>
                <a:cubicBezTo>
                  <a:pt x="0" y="98954"/>
                  <a:pt x="98941" y="0"/>
                  <a:pt x="220992" y="0"/>
                </a:cubicBezTo>
                <a:cubicBezTo>
                  <a:pt x="343042" y="0"/>
                  <a:pt x="441983" y="98954"/>
                  <a:pt x="441983" y="221021"/>
                </a:cubicBezTo>
                <a:close/>
              </a:path>
            </a:pathLst>
          </a:custGeom>
          <a:solidFill>
            <a:srgbClr val="DDEFFD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28" name="组合 127"/>
          <p:cNvGrpSpPr/>
          <p:nvPr/>
        </p:nvGrpSpPr>
        <p:grpSpPr>
          <a:xfrm>
            <a:off x="561975" y="5575935"/>
            <a:ext cx="215265" cy="294640"/>
            <a:chOff x="885" y="8781"/>
            <a:chExt cx="339" cy="464"/>
          </a:xfrm>
        </p:grpSpPr>
        <p:sp>
          <p:nvSpPr>
            <p:cNvPr id="126" name="任意多边形 125"/>
            <p:cNvSpPr/>
            <p:nvPr/>
          </p:nvSpPr>
          <p:spPr>
            <a:xfrm>
              <a:off x="885" y="8781"/>
              <a:ext cx="339" cy="464"/>
            </a:xfrm>
            <a:custGeom>
              <a:avLst/>
              <a:gdLst>
                <a:gd name="connisteX0" fmla="*/ 107556 w 215112"/>
                <a:gd name="connsiteY0" fmla="*/ 0 h 294404"/>
                <a:gd name="connisteX1" fmla="*/ 215112 w 215112"/>
                <a:gd name="connsiteY1" fmla="*/ 50954 h 294404"/>
                <a:gd name="connisteX2" fmla="*/ 215112 w 215112"/>
                <a:gd name="connsiteY2" fmla="*/ 152863 h 294404"/>
                <a:gd name="connisteX3" fmla="*/ 107556 w 215112"/>
                <a:gd name="connsiteY3" fmla="*/ 294404 h 294404"/>
                <a:gd name="connisteX4" fmla="*/ 0 w 215112"/>
                <a:gd name="connsiteY4" fmla="*/ 152863 h 294404"/>
                <a:gd name="connisteX5" fmla="*/ 0 w 215112"/>
                <a:gd name="connsiteY5" fmla="*/ 50954 h 294404"/>
                <a:gd name="connisteX6" fmla="*/ 107556 w 215112"/>
                <a:gd name="connsiteY6" fmla="*/ 0 h 29440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215113" h="294404">
                  <a:moveTo>
                    <a:pt x="107556" y="0"/>
                  </a:moveTo>
                  <a:lnTo>
                    <a:pt x="215113" y="50955"/>
                  </a:lnTo>
                  <a:lnTo>
                    <a:pt x="215113" y="152864"/>
                  </a:lnTo>
                  <a:cubicBezTo>
                    <a:pt x="211339" y="213254"/>
                    <a:pt x="175487" y="260435"/>
                    <a:pt x="107556" y="294404"/>
                  </a:cubicBezTo>
                  <a:cubicBezTo>
                    <a:pt x="39626" y="260435"/>
                    <a:pt x="3774" y="213254"/>
                    <a:pt x="0" y="152864"/>
                  </a:cubicBezTo>
                  <a:lnTo>
                    <a:pt x="0" y="50955"/>
                  </a:lnTo>
                  <a:lnTo>
                    <a:pt x="107556" y="0"/>
                  </a:lnTo>
                  <a:close/>
                </a:path>
              </a:pathLst>
            </a:custGeom>
            <a:solidFill>
              <a:srgbClr val="0754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965" y="8933"/>
              <a:ext cx="188" cy="142"/>
            </a:xfrm>
            <a:custGeom>
              <a:avLst/>
              <a:gdLst>
                <a:gd name="connisteX0" fmla="*/ 0 w 118878"/>
                <a:gd name="connsiteY0" fmla="*/ 45292 h 90585"/>
                <a:gd name="connisteX1" fmla="*/ 39626 w 118878"/>
                <a:gd name="connsiteY1" fmla="*/ 90585 h 90585"/>
                <a:gd name="connisteX2" fmla="*/ 118878 w 118878"/>
                <a:gd name="connsiteY2" fmla="*/ 0 h 905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18878" h="90586">
                  <a:moveTo>
                    <a:pt x="0" y="45293"/>
                  </a:moveTo>
                  <a:lnTo>
                    <a:pt x="39626" y="90586"/>
                  </a:lnTo>
                  <a:lnTo>
                    <a:pt x="118878" y="0"/>
                  </a:lnTo>
                </a:path>
              </a:pathLst>
            </a:custGeom>
            <a:noFill/>
            <a:ln w="22645" cap="rnd">
              <a:solidFill>
                <a:srgbClr val="FFFF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9" name="任意多边形 128"/>
          <p:cNvSpPr/>
          <p:nvPr/>
        </p:nvSpPr>
        <p:spPr>
          <a:xfrm>
            <a:off x="1081405" y="5567045"/>
            <a:ext cx="289560" cy="289560"/>
          </a:xfrm>
          <a:custGeom>
            <a:avLst/>
            <a:gdLst>
              <a:gd name="connisteX0" fmla="*/ 289575 w 289575"/>
              <a:gd name="connsiteY0" fmla="*/ 144806 h 289613"/>
              <a:gd name="connisteX1" fmla="*/ 144787 w 289575"/>
              <a:gd name="connsiteY1" fmla="*/ 289613 h 289613"/>
              <a:gd name="connisteX2" fmla="*/ 0 w 289575"/>
              <a:gd name="connsiteY2" fmla="*/ 144806 h 289613"/>
              <a:gd name="connisteX3" fmla="*/ 144787 w 289575"/>
              <a:gd name="connsiteY3" fmla="*/ 0 h 289613"/>
              <a:gd name="connisteX4" fmla="*/ 289575 w 289575"/>
              <a:gd name="connsiteY4" fmla="*/ 144806 h 2896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89575" h="289614">
                <a:moveTo>
                  <a:pt x="289575" y="144807"/>
                </a:moveTo>
                <a:cubicBezTo>
                  <a:pt x="289575" y="224781"/>
                  <a:pt x="224751" y="289614"/>
                  <a:pt x="144788" y="289614"/>
                </a:cubicBezTo>
                <a:cubicBezTo>
                  <a:pt x="64824" y="289614"/>
                  <a:pt x="0" y="224781"/>
                  <a:pt x="0" y="144807"/>
                </a:cubicBezTo>
                <a:cubicBezTo>
                  <a:pt x="0" y="64832"/>
                  <a:pt x="64824" y="0"/>
                  <a:pt x="144788" y="0"/>
                </a:cubicBezTo>
                <a:cubicBezTo>
                  <a:pt x="224751" y="0"/>
                  <a:pt x="289575" y="64832"/>
                  <a:pt x="289575" y="144807"/>
                </a:cubicBezTo>
                <a:close/>
              </a:path>
            </a:pathLst>
          </a:custGeom>
          <a:solidFill>
            <a:srgbClr val="579CD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0" name="文本框 129"/>
          <p:cNvSpPr txBox="1"/>
          <p:nvPr/>
        </p:nvSpPr>
        <p:spPr>
          <a:xfrm>
            <a:off x="1081405" y="5567045"/>
            <a:ext cx="280035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3</a:t>
            </a:r>
            <a:endParaRPr lang="zh-CN" altLang="en-US" sz="1380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461770" y="5578475"/>
            <a:ext cx="386334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163A6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支持可解释检索与证据追踪，提高回答可靠性。</a:t>
            </a:r>
            <a:endParaRPr lang="zh-CN" altLang="en-US" sz="1380">
              <a:solidFill>
                <a:srgbClr val="163A6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任意多边形 131"/>
          <p:cNvSpPr/>
          <p:nvPr/>
        </p:nvSpPr>
        <p:spPr>
          <a:xfrm>
            <a:off x="288925" y="6012815"/>
            <a:ext cx="5593080" cy="495300"/>
          </a:xfrm>
          <a:custGeom>
            <a:avLst/>
            <a:gdLst>
              <a:gd name="connisteX0" fmla="*/ 0 w 5593371"/>
              <a:gd name="connsiteY0" fmla="*/ 99078 h 495391"/>
              <a:gd name="connisteX1" fmla="*/ 83900 w 5593371"/>
              <a:gd name="connsiteY1" fmla="*/ 0 h 495391"/>
              <a:gd name="connisteX2" fmla="*/ 5509470 w 5593371"/>
              <a:gd name="connsiteY2" fmla="*/ 0 h 495391"/>
              <a:gd name="connisteX3" fmla="*/ 5593371 w 5593371"/>
              <a:gd name="connsiteY3" fmla="*/ 99078 h 495391"/>
              <a:gd name="connisteX4" fmla="*/ 5593371 w 5593371"/>
              <a:gd name="connsiteY4" fmla="*/ 396313 h 495391"/>
              <a:gd name="connisteX5" fmla="*/ 5509470 w 5593371"/>
              <a:gd name="connsiteY5" fmla="*/ 495391 h 495391"/>
              <a:gd name="connisteX6" fmla="*/ 83900 w 5593371"/>
              <a:gd name="connsiteY6" fmla="*/ 495391 h 495391"/>
              <a:gd name="connisteX7" fmla="*/ 0 w 5593371"/>
              <a:gd name="connsiteY7" fmla="*/ 396313 h 495391"/>
              <a:gd name="connisteX8" fmla="*/ 0 w 5593371"/>
              <a:gd name="connsiteY8" fmla="*/ 99078 h 49539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93371" h="495392">
                <a:moveTo>
                  <a:pt x="0" y="99078"/>
                </a:moveTo>
                <a:cubicBezTo>
                  <a:pt x="0" y="44359"/>
                  <a:pt x="37564" y="0"/>
                  <a:pt x="83901" y="0"/>
                </a:cubicBezTo>
                <a:lnTo>
                  <a:pt x="5509471" y="0"/>
                </a:lnTo>
                <a:cubicBezTo>
                  <a:pt x="5555808" y="0"/>
                  <a:pt x="5593371" y="44359"/>
                  <a:pt x="5593371" y="99078"/>
                </a:cubicBezTo>
                <a:lnTo>
                  <a:pt x="5593371" y="396313"/>
                </a:lnTo>
                <a:cubicBezTo>
                  <a:pt x="5593371" y="451033"/>
                  <a:pt x="5555808" y="495392"/>
                  <a:pt x="5509471" y="495392"/>
                </a:cubicBezTo>
                <a:lnTo>
                  <a:pt x="83901" y="495392"/>
                </a:lnTo>
                <a:cubicBezTo>
                  <a:pt x="37564" y="495392"/>
                  <a:pt x="0" y="451033"/>
                  <a:pt x="0" y="396313"/>
                </a:cubicBezTo>
                <a:lnTo>
                  <a:pt x="0" y="99078"/>
                </a:lnTo>
                <a:close/>
              </a:path>
            </a:pathLst>
          </a:custGeom>
          <a:solidFill>
            <a:srgbClr val="F0F7F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3" name="任意多边形 132"/>
          <p:cNvSpPr/>
          <p:nvPr/>
        </p:nvSpPr>
        <p:spPr>
          <a:xfrm>
            <a:off x="448945" y="6039485"/>
            <a:ext cx="441960" cy="441960"/>
          </a:xfrm>
          <a:custGeom>
            <a:avLst/>
            <a:gdLst>
              <a:gd name="connisteX0" fmla="*/ 441983 w 441983"/>
              <a:gd name="connsiteY0" fmla="*/ 221020 h 442041"/>
              <a:gd name="connisteX1" fmla="*/ 220991 w 441983"/>
              <a:gd name="connsiteY1" fmla="*/ 442041 h 442041"/>
              <a:gd name="connisteX2" fmla="*/ 0 w 441983"/>
              <a:gd name="connsiteY2" fmla="*/ 221020 h 442041"/>
              <a:gd name="connisteX3" fmla="*/ 220991 w 441983"/>
              <a:gd name="connsiteY3" fmla="*/ 0 h 442041"/>
              <a:gd name="connisteX4" fmla="*/ 441983 w 441983"/>
              <a:gd name="connsiteY4" fmla="*/ 221020 h 4420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41983" h="442042">
                <a:moveTo>
                  <a:pt x="441983" y="221021"/>
                </a:moveTo>
                <a:cubicBezTo>
                  <a:pt x="441983" y="343087"/>
                  <a:pt x="343042" y="442042"/>
                  <a:pt x="220992" y="442042"/>
                </a:cubicBezTo>
                <a:cubicBezTo>
                  <a:pt x="98941" y="442042"/>
                  <a:pt x="0" y="343087"/>
                  <a:pt x="0" y="221021"/>
                </a:cubicBezTo>
                <a:cubicBezTo>
                  <a:pt x="0" y="98954"/>
                  <a:pt x="98941" y="0"/>
                  <a:pt x="220992" y="0"/>
                </a:cubicBezTo>
                <a:cubicBezTo>
                  <a:pt x="343042" y="0"/>
                  <a:pt x="441983" y="98954"/>
                  <a:pt x="441983" y="221021"/>
                </a:cubicBezTo>
                <a:close/>
              </a:path>
            </a:pathLst>
          </a:custGeom>
          <a:solidFill>
            <a:srgbClr val="DDEFFD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39" name="组合 138"/>
          <p:cNvGrpSpPr/>
          <p:nvPr/>
        </p:nvGrpSpPr>
        <p:grpSpPr>
          <a:xfrm>
            <a:off x="505460" y="6108065"/>
            <a:ext cx="339725" cy="316865"/>
            <a:chOff x="796" y="9619"/>
            <a:chExt cx="535" cy="499"/>
          </a:xfrm>
        </p:grpSpPr>
        <p:sp>
          <p:nvSpPr>
            <p:cNvPr id="134" name="任意多边形 133"/>
            <p:cNvSpPr/>
            <p:nvPr/>
          </p:nvSpPr>
          <p:spPr>
            <a:xfrm>
              <a:off x="876" y="9708"/>
              <a:ext cx="179" cy="321"/>
            </a:xfrm>
            <a:custGeom>
              <a:avLst/>
              <a:gdLst>
                <a:gd name="connisteX0" fmla="*/ 113217 w 113217"/>
                <a:gd name="connsiteY0" fmla="*/ 0 h 203818"/>
                <a:gd name="connisteX1" fmla="*/ 0 w 113217"/>
                <a:gd name="connsiteY1" fmla="*/ 203818 h 20381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13217" h="203818">
                  <a:moveTo>
                    <a:pt x="113217" y="0"/>
                  </a:moveTo>
                  <a:lnTo>
                    <a:pt x="0" y="203818"/>
                  </a:lnTo>
                </a:path>
              </a:pathLst>
            </a:custGeom>
            <a:solidFill>
              <a:srgbClr val="000000"/>
            </a:solidFill>
            <a:ln w="22645" cap="rnd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1055" y="9708"/>
              <a:ext cx="196" cy="330"/>
            </a:xfrm>
            <a:custGeom>
              <a:avLst/>
              <a:gdLst>
                <a:gd name="connisteX0" fmla="*/ 0 w 124539"/>
                <a:gd name="connsiteY0" fmla="*/ 0 h 209479"/>
                <a:gd name="connisteX1" fmla="*/ 124539 w 124539"/>
                <a:gd name="connsiteY1" fmla="*/ 209479 h 20947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24539" h="209480">
                  <a:moveTo>
                    <a:pt x="0" y="0"/>
                  </a:moveTo>
                  <a:lnTo>
                    <a:pt x="124539" y="209480"/>
                  </a:lnTo>
                </a:path>
              </a:pathLst>
            </a:custGeom>
            <a:solidFill>
              <a:srgbClr val="000000"/>
            </a:solidFill>
            <a:ln w="22645" cap="rnd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983" y="9619"/>
              <a:ext cx="143" cy="142"/>
            </a:xfrm>
            <a:custGeom>
              <a:avLst/>
              <a:gdLst>
                <a:gd name="connisteX0" fmla="*/ 90573 w 90573"/>
                <a:gd name="connsiteY0" fmla="*/ 45292 h 90585"/>
                <a:gd name="connisteX1" fmla="*/ 45286 w 90573"/>
                <a:gd name="connsiteY1" fmla="*/ 90585 h 90585"/>
                <a:gd name="connisteX2" fmla="*/ 0 w 90573"/>
                <a:gd name="connsiteY2" fmla="*/ 45292 h 90585"/>
                <a:gd name="connisteX3" fmla="*/ 45286 w 90573"/>
                <a:gd name="connsiteY3" fmla="*/ 0 h 90585"/>
                <a:gd name="connisteX4" fmla="*/ 90573 w 90573"/>
                <a:gd name="connsiteY4" fmla="*/ 45292 h 905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0574" h="90586">
                  <a:moveTo>
                    <a:pt x="90574" y="45293"/>
                  </a:moveTo>
                  <a:cubicBezTo>
                    <a:pt x="90574" y="70308"/>
                    <a:pt x="70298" y="90586"/>
                    <a:pt x="45287" y="90586"/>
                  </a:cubicBezTo>
                  <a:cubicBezTo>
                    <a:pt x="20276" y="90586"/>
                    <a:pt x="0" y="70308"/>
                    <a:pt x="0" y="45293"/>
                  </a:cubicBezTo>
                  <a:cubicBezTo>
                    <a:pt x="0" y="20278"/>
                    <a:pt x="20276" y="0"/>
                    <a:pt x="45287" y="0"/>
                  </a:cubicBezTo>
                  <a:cubicBezTo>
                    <a:pt x="70298" y="0"/>
                    <a:pt x="90574" y="20278"/>
                    <a:pt x="90574" y="45293"/>
                  </a:cubicBezTo>
                  <a:close/>
                </a:path>
              </a:pathLst>
            </a:custGeom>
            <a:solidFill>
              <a:srgbClr val="FFFFFF"/>
            </a:solidFill>
            <a:ln w="22645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796" y="9966"/>
              <a:ext cx="143" cy="143"/>
            </a:xfrm>
            <a:custGeom>
              <a:avLst/>
              <a:gdLst>
                <a:gd name="connisteX0" fmla="*/ 90573 w 90573"/>
                <a:gd name="connsiteY0" fmla="*/ 45292 h 90585"/>
                <a:gd name="connisteX1" fmla="*/ 45286 w 90573"/>
                <a:gd name="connsiteY1" fmla="*/ 90585 h 90585"/>
                <a:gd name="connisteX2" fmla="*/ 0 w 90573"/>
                <a:gd name="connsiteY2" fmla="*/ 45292 h 90585"/>
                <a:gd name="connisteX3" fmla="*/ 45286 w 90573"/>
                <a:gd name="connsiteY3" fmla="*/ 0 h 90585"/>
                <a:gd name="connisteX4" fmla="*/ 90573 w 90573"/>
                <a:gd name="connsiteY4" fmla="*/ 45292 h 905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0574" h="90586">
                  <a:moveTo>
                    <a:pt x="90574" y="45293"/>
                  </a:moveTo>
                  <a:cubicBezTo>
                    <a:pt x="90574" y="70308"/>
                    <a:pt x="70298" y="90586"/>
                    <a:pt x="45287" y="90586"/>
                  </a:cubicBezTo>
                  <a:cubicBezTo>
                    <a:pt x="20276" y="90586"/>
                    <a:pt x="0" y="70308"/>
                    <a:pt x="0" y="45293"/>
                  </a:cubicBezTo>
                  <a:cubicBezTo>
                    <a:pt x="0" y="20278"/>
                    <a:pt x="20276" y="0"/>
                    <a:pt x="45287" y="0"/>
                  </a:cubicBezTo>
                  <a:cubicBezTo>
                    <a:pt x="70298" y="0"/>
                    <a:pt x="90574" y="20278"/>
                    <a:pt x="90574" y="45293"/>
                  </a:cubicBezTo>
                  <a:close/>
                </a:path>
              </a:pathLst>
            </a:custGeom>
            <a:solidFill>
              <a:srgbClr val="FFFFFF"/>
            </a:solidFill>
            <a:ln w="22645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1188" y="9975"/>
              <a:ext cx="143" cy="143"/>
            </a:xfrm>
            <a:custGeom>
              <a:avLst/>
              <a:gdLst>
                <a:gd name="connisteX0" fmla="*/ 90573 w 90573"/>
                <a:gd name="connsiteY0" fmla="*/ 45292 h 90585"/>
                <a:gd name="connisteX1" fmla="*/ 45286 w 90573"/>
                <a:gd name="connsiteY1" fmla="*/ 90585 h 90585"/>
                <a:gd name="connisteX2" fmla="*/ 0 w 90573"/>
                <a:gd name="connsiteY2" fmla="*/ 45292 h 90585"/>
                <a:gd name="connisteX3" fmla="*/ 45286 w 90573"/>
                <a:gd name="connsiteY3" fmla="*/ 0 h 90585"/>
                <a:gd name="connisteX4" fmla="*/ 90573 w 90573"/>
                <a:gd name="connsiteY4" fmla="*/ 45292 h 905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90574" h="90586">
                  <a:moveTo>
                    <a:pt x="90574" y="45293"/>
                  </a:moveTo>
                  <a:cubicBezTo>
                    <a:pt x="90574" y="70308"/>
                    <a:pt x="70298" y="90586"/>
                    <a:pt x="45287" y="90586"/>
                  </a:cubicBezTo>
                  <a:cubicBezTo>
                    <a:pt x="20276" y="90586"/>
                    <a:pt x="0" y="70308"/>
                    <a:pt x="0" y="45293"/>
                  </a:cubicBezTo>
                  <a:cubicBezTo>
                    <a:pt x="0" y="20278"/>
                    <a:pt x="20276" y="0"/>
                    <a:pt x="45287" y="0"/>
                  </a:cubicBezTo>
                  <a:cubicBezTo>
                    <a:pt x="70298" y="0"/>
                    <a:pt x="90574" y="20278"/>
                    <a:pt x="90574" y="45293"/>
                  </a:cubicBezTo>
                  <a:close/>
                </a:path>
              </a:pathLst>
            </a:custGeom>
            <a:solidFill>
              <a:srgbClr val="FFFFFF"/>
            </a:solidFill>
            <a:ln w="22645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0" name="任意多边形 139"/>
          <p:cNvSpPr/>
          <p:nvPr/>
        </p:nvSpPr>
        <p:spPr>
          <a:xfrm>
            <a:off x="1081405" y="6115685"/>
            <a:ext cx="289560" cy="289560"/>
          </a:xfrm>
          <a:custGeom>
            <a:avLst/>
            <a:gdLst>
              <a:gd name="connisteX0" fmla="*/ 289575 w 289575"/>
              <a:gd name="connsiteY0" fmla="*/ 144806 h 289613"/>
              <a:gd name="connisteX1" fmla="*/ 144787 w 289575"/>
              <a:gd name="connsiteY1" fmla="*/ 289613 h 289613"/>
              <a:gd name="connisteX2" fmla="*/ 0 w 289575"/>
              <a:gd name="connsiteY2" fmla="*/ 144806 h 289613"/>
              <a:gd name="connisteX3" fmla="*/ 144787 w 289575"/>
              <a:gd name="connsiteY3" fmla="*/ 0 h 289613"/>
              <a:gd name="connisteX4" fmla="*/ 289575 w 289575"/>
              <a:gd name="connsiteY4" fmla="*/ 144806 h 2896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89575" h="289614">
                <a:moveTo>
                  <a:pt x="289575" y="144807"/>
                </a:moveTo>
                <a:cubicBezTo>
                  <a:pt x="289575" y="224781"/>
                  <a:pt x="224751" y="289614"/>
                  <a:pt x="144788" y="289614"/>
                </a:cubicBezTo>
                <a:cubicBezTo>
                  <a:pt x="64824" y="289614"/>
                  <a:pt x="0" y="224781"/>
                  <a:pt x="0" y="144807"/>
                </a:cubicBezTo>
                <a:cubicBezTo>
                  <a:pt x="0" y="64832"/>
                  <a:pt x="64824" y="0"/>
                  <a:pt x="144788" y="0"/>
                </a:cubicBezTo>
                <a:cubicBezTo>
                  <a:pt x="224751" y="0"/>
                  <a:pt x="289575" y="64832"/>
                  <a:pt x="289575" y="144807"/>
                </a:cubicBezTo>
                <a:close/>
              </a:path>
            </a:pathLst>
          </a:custGeom>
          <a:solidFill>
            <a:srgbClr val="579CD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1081405" y="6121400"/>
            <a:ext cx="280035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4</a:t>
            </a:r>
            <a:endParaRPr lang="zh-CN" altLang="en-US" sz="1380">
              <a:solidFill>
                <a:srgbClr val="FFFFFF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1463675" y="6127115"/>
            <a:ext cx="386334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163A6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为复杂医疗问答提供实体关联与多跳推理基础。</a:t>
            </a:r>
            <a:endParaRPr lang="zh-CN" altLang="en-US" sz="1380">
              <a:solidFill>
                <a:srgbClr val="163A6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6400165" y="1722120"/>
            <a:ext cx="5524500" cy="1280160"/>
          </a:xfrm>
          <a:custGeom>
            <a:avLst/>
            <a:gdLst>
              <a:gd name="connisteX0" fmla="*/ 0 w 5524787"/>
              <a:gd name="connsiteY0" fmla="*/ 121637 h 1280397"/>
              <a:gd name="connisteX1" fmla="*/ 110495 w 5524787"/>
              <a:gd name="connsiteY1" fmla="*/ 0 h 1280397"/>
              <a:gd name="connisteX2" fmla="*/ 5414291 w 5524787"/>
              <a:gd name="connsiteY2" fmla="*/ 0 h 1280397"/>
              <a:gd name="connisteX3" fmla="*/ 5524787 w 5524787"/>
              <a:gd name="connsiteY3" fmla="*/ 121637 h 1280397"/>
              <a:gd name="connisteX4" fmla="*/ 5524787 w 5524787"/>
              <a:gd name="connsiteY4" fmla="*/ 1158759 h 1280397"/>
              <a:gd name="connisteX5" fmla="*/ 5414291 w 5524787"/>
              <a:gd name="connsiteY5" fmla="*/ 1280397 h 1280397"/>
              <a:gd name="connisteX6" fmla="*/ 110495 w 5524787"/>
              <a:gd name="connsiteY6" fmla="*/ 1280397 h 1280397"/>
              <a:gd name="connisteX7" fmla="*/ 0 w 5524787"/>
              <a:gd name="connsiteY7" fmla="*/ 1158759 h 1280397"/>
              <a:gd name="connisteX8" fmla="*/ 0 w 5524787"/>
              <a:gd name="connsiteY8" fmla="*/ 121637 h 12803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24788" h="1280397">
                <a:moveTo>
                  <a:pt x="0" y="121638"/>
                </a:moveTo>
                <a:cubicBezTo>
                  <a:pt x="0" y="54459"/>
                  <a:pt x="49471" y="0"/>
                  <a:pt x="110496" y="0"/>
                </a:cubicBezTo>
                <a:lnTo>
                  <a:pt x="5414292" y="0"/>
                </a:lnTo>
                <a:cubicBezTo>
                  <a:pt x="5475317" y="0"/>
                  <a:pt x="5524788" y="54459"/>
                  <a:pt x="5524788" y="121638"/>
                </a:cubicBezTo>
                <a:lnTo>
                  <a:pt x="5524788" y="1158759"/>
                </a:lnTo>
                <a:cubicBezTo>
                  <a:pt x="5524788" y="1225938"/>
                  <a:pt x="5475317" y="1280397"/>
                  <a:pt x="5414292" y="1280397"/>
                </a:cubicBezTo>
                <a:lnTo>
                  <a:pt x="110496" y="1280397"/>
                </a:lnTo>
                <a:cubicBezTo>
                  <a:pt x="49471" y="1280397"/>
                  <a:pt x="0" y="1225938"/>
                  <a:pt x="0" y="1158759"/>
                </a:cubicBezTo>
                <a:lnTo>
                  <a:pt x="0" y="121638"/>
                </a:lnTo>
                <a:close/>
              </a:path>
            </a:pathLst>
          </a:custGeom>
          <a:solidFill>
            <a:srgbClr val="F6FAFE"/>
          </a:solidFill>
          <a:ln w="11431" cap="flat">
            <a:solidFill>
              <a:srgbClr val="62A4E1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任意多边形 143"/>
          <p:cNvSpPr/>
          <p:nvPr/>
        </p:nvSpPr>
        <p:spPr>
          <a:xfrm>
            <a:off x="6583045" y="1920240"/>
            <a:ext cx="883920" cy="883920"/>
          </a:xfrm>
          <a:custGeom>
            <a:avLst/>
            <a:gdLst>
              <a:gd name="connisteX0" fmla="*/ 883966 w 883966"/>
              <a:gd name="connsiteY0" fmla="*/ 442041 h 884083"/>
              <a:gd name="connisteX1" fmla="*/ 441983 w 883966"/>
              <a:gd name="connsiteY1" fmla="*/ 884083 h 884083"/>
              <a:gd name="connisteX2" fmla="*/ 0 w 883966"/>
              <a:gd name="connsiteY2" fmla="*/ 442041 h 884083"/>
              <a:gd name="connisteX3" fmla="*/ 441983 w 883966"/>
              <a:gd name="connsiteY3" fmla="*/ 0 h 884083"/>
              <a:gd name="connisteX4" fmla="*/ 883966 w 883966"/>
              <a:gd name="connsiteY4" fmla="*/ 442041 h 8840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83966" h="884084">
                <a:moveTo>
                  <a:pt x="883966" y="442042"/>
                </a:moveTo>
                <a:cubicBezTo>
                  <a:pt x="883966" y="686175"/>
                  <a:pt x="686083" y="884084"/>
                  <a:pt x="441983" y="884084"/>
                </a:cubicBezTo>
                <a:cubicBezTo>
                  <a:pt x="197883" y="884084"/>
                  <a:pt x="0" y="686175"/>
                  <a:pt x="0" y="442042"/>
                </a:cubicBezTo>
                <a:cubicBezTo>
                  <a:pt x="0" y="197909"/>
                  <a:pt x="197883" y="0"/>
                  <a:pt x="441983" y="0"/>
                </a:cubicBezTo>
                <a:cubicBezTo>
                  <a:pt x="686083" y="0"/>
                  <a:pt x="883966" y="197909"/>
                  <a:pt x="883966" y="442042"/>
                </a:cubicBezTo>
                <a:close/>
              </a:path>
            </a:pathLst>
          </a:custGeom>
          <a:solidFill>
            <a:srgbClr val="E0EFFB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47" name="组合 146"/>
          <p:cNvGrpSpPr/>
          <p:nvPr/>
        </p:nvGrpSpPr>
        <p:grpSpPr>
          <a:xfrm>
            <a:off x="6837680" y="2165985"/>
            <a:ext cx="402590" cy="411480"/>
            <a:chOff x="10768" y="3411"/>
            <a:chExt cx="634" cy="648"/>
          </a:xfrm>
        </p:grpSpPr>
        <p:sp>
          <p:nvSpPr>
            <p:cNvPr id="145" name="任意多边形 144"/>
            <p:cNvSpPr/>
            <p:nvPr/>
          </p:nvSpPr>
          <p:spPr>
            <a:xfrm>
              <a:off x="10768" y="3411"/>
              <a:ext cx="443" cy="442"/>
            </a:xfrm>
            <a:custGeom>
              <a:avLst/>
              <a:gdLst>
                <a:gd name="connisteX0" fmla="*/ 280866 w 280866"/>
                <a:gd name="connsiteY0" fmla="*/ 140451 h 280903"/>
                <a:gd name="connisteX1" fmla="*/ 140433 w 280866"/>
                <a:gd name="connsiteY1" fmla="*/ 280903 h 280903"/>
                <a:gd name="connisteX2" fmla="*/ 0 w 280866"/>
                <a:gd name="connsiteY2" fmla="*/ 140451 h 280903"/>
                <a:gd name="connisteX3" fmla="*/ 140433 w 280866"/>
                <a:gd name="connsiteY3" fmla="*/ 0 h 280903"/>
                <a:gd name="connisteX4" fmla="*/ 280866 w 280866"/>
                <a:gd name="connsiteY4" fmla="*/ 140451 h 28090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280866" h="280903">
                  <a:moveTo>
                    <a:pt x="280866" y="140452"/>
                  </a:moveTo>
                  <a:cubicBezTo>
                    <a:pt x="280866" y="218021"/>
                    <a:pt x="217992" y="280903"/>
                    <a:pt x="140433" y="280903"/>
                  </a:cubicBezTo>
                  <a:cubicBezTo>
                    <a:pt x="62874" y="280903"/>
                    <a:pt x="0" y="218021"/>
                    <a:pt x="0" y="140452"/>
                  </a:cubicBezTo>
                  <a:cubicBezTo>
                    <a:pt x="0" y="62882"/>
                    <a:pt x="62874" y="0"/>
                    <a:pt x="140433" y="0"/>
                  </a:cubicBezTo>
                  <a:cubicBezTo>
                    <a:pt x="217992" y="0"/>
                    <a:pt x="280866" y="62882"/>
                    <a:pt x="280866" y="140452"/>
                  </a:cubicBezTo>
                  <a:close/>
                </a:path>
              </a:pathLst>
            </a:custGeom>
            <a:noFill/>
            <a:ln w="46814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11166" y="3809"/>
              <a:ext cx="236" cy="250"/>
            </a:xfrm>
            <a:custGeom>
              <a:avLst/>
              <a:gdLst>
                <a:gd name="connisteX0" fmla="*/ 0 w 149795"/>
                <a:gd name="connsiteY0" fmla="*/ 0 h 159178"/>
                <a:gd name="connisteX1" fmla="*/ 149795 w 149795"/>
                <a:gd name="connsiteY1" fmla="*/ 159178 h 15917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49795" h="159179">
                  <a:moveTo>
                    <a:pt x="0" y="0"/>
                  </a:moveTo>
                  <a:lnTo>
                    <a:pt x="149795" y="159179"/>
                  </a:lnTo>
                </a:path>
              </a:pathLst>
            </a:custGeom>
            <a:solidFill>
              <a:srgbClr val="000000"/>
            </a:solidFill>
            <a:ln w="65540" cap="rnd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" name="文本框 147"/>
          <p:cNvSpPr txBox="1"/>
          <p:nvPr/>
        </p:nvSpPr>
        <p:spPr>
          <a:xfrm>
            <a:off x="7636510" y="1927860"/>
            <a:ext cx="2864485" cy="36830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向量检索（Vector RAG</a:t>
            </a:r>
            <a:r>
              <a:rPr lang="zh-CN" altLang="en-US" b="1">
                <a:solidFill>
                  <a:srgbClr val="075494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）</a:t>
            </a:r>
            <a:endParaRPr lang="zh-CN" altLang="en-US" b="1">
              <a:solidFill>
                <a:srgbClr val="075494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7611745" y="2324100"/>
            <a:ext cx="368808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擅长语义相似匹配、事实型问答、术语解释</a:t>
            </a:r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、</a:t>
            </a:r>
            <a:endParaRPr lang="zh-CN" altLang="en-US" sz="1380">
              <a:solidFill>
                <a:srgbClr val="35455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612380" y="2560320"/>
            <a:ext cx="176022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单证据或单跳问题</a:t>
            </a:r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Arial" panose="020B0604020202020204" pitchFamily="34" charset="0"/>
                <a:ea typeface="Microsoft YaHei UI" panose="020B0503020204020204" charset="-122"/>
              </a:rPr>
              <a:t>。</a:t>
            </a:r>
            <a:endParaRPr lang="zh-CN" altLang="en-US" sz="1380">
              <a:solidFill>
                <a:srgbClr val="354553">
                  <a:alpha val="100000"/>
                </a:srgbClr>
              </a:solidFill>
              <a:latin typeface="Arial" panose="020B0604020202020204" pitchFamily="34" charset="0"/>
              <a:ea typeface="Microsoft YaHei UI" panose="020B0503020204020204" charset="-122"/>
            </a:endParaRPr>
          </a:p>
        </p:txBody>
      </p:sp>
      <p:sp>
        <p:nvSpPr>
          <p:cNvPr id="151" name="任意多边形 150"/>
          <p:cNvSpPr/>
          <p:nvPr/>
        </p:nvSpPr>
        <p:spPr>
          <a:xfrm>
            <a:off x="6400165" y="3116580"/>
            <a:ext cx="5524500" cy="1280795"/>
          </a:xfrm>
          <a:custGeom>
            <a:avLst/>
            <a:gdLst>
              <a:gd name="connisteX0" fmla="*/ 0 w 5524787"/>
              <a:gd name="connsiteY0" fmla="*/ 121637 h 1280397"/>
              <a:gd name="connisteX1" fmla="*/ 110495 w 5524787"/>
              <a:gd name="connsiteY1" fmla="*/ 0 h 1280397"/>
              <a:gd name="connisteX2" fmla="*/ 5414291 w 5524787"/>
              <a:gd name="connsiteY2" fmla="*/ 0 h 1280397"/>
              <a:gd name="connisteX3" fmla="*/ 5524787 w 5524787"/>
              <a:gd name="connsiteY3" fmla="*/ 121637 h 1280397"/>
              <a:gd name="connisteX4" fmla="*/ 5524787 w 5524787"/>
              <a:gd name="connsiteY4" fmla="*/ 1158759 h 1280397"/>
              <a:gd name="connisteX5" fmla="*/ 5414291 w 5524787"/>
              <a:gd name="connsiteY5" fmla="*/ 1280397 h 1280397"/>
              <a:gd name="connisteX6" fmla="*/ 110495 w 5524787"/>
              <a:gd name="connsiteY6" fmla="*/ 1280397 h 1280397"/>
              <a:gd name="connisteX7" fmla="*/ 0 w 5524787"/>
              <a:gd name="connsiteY7" fmla="*/ 1158759 h 1280397"/>
              <a:gd name="connisteX8" fmla="*/ 0 w 5524787"/>
              <a:gd name="connsiteY8" fmla="*/ 121637 h 12803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24788" h="1280397">
                <a:moveTo>
                  <a:pt x="0" y="121638"/>
                </a:moveTo>
                <a:cubicBezTo>
                  <a:pt x="0" y="54459"/>
                  <a:pt x="49471" y="0"/>
                  <a:pt x="110496" y="0"/>
                </a:cubicBezTo>
                <a:lnTo>
                  <a:pt x="5414292" y="0"/>
                </a:lnTo>
                <a:cubicBezTo>
                  <a:pt x="5475317" y="0"/>
                  <a:pt x="5524788" y="54459"/>
                  <a:pt x="5524788" y="121638"/>
                </a:cubicBezTo>
                <a:lnTo>
                  <a:pt x="5524788" y="1158759"/>
                </a:lnTo>
                <a:cubicBezTo>
                  <a:pt x="5524788" y="1225938"/>
                  <a:pt x="5475317" y="1280397"/>
                  <a:pt x="5414292" y="1280397"/>
                </a:cubicBezTo>
                <a:lnTo>
                  <a:pt x="110496" y="1280397"/>
                </a:lnTo>
                <a:cubicBezTo>
                  <a:pt x="49471" y="1280397"/>
                  <a:pt x="0" y="1225938"/>
                  <a:pt x="0" y="1158759"/>
                </a:cubicBezTo>
                <a:lnTo>
                  <a:pt x="0" y="121638"/>
                </a:lnTo>
                <a:close/>
              </a:path>
            </a:pathLst>
          </a:custGeom>
          <a:solidFill>
            <a:srgbClr val="F6FAFE"/>
          </a:solidFill>
          <a:ln w="11431" cap="flat">
            <a:solidFill>
              <a:srgbClr val="62A4E1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任意多边形 151"/>
          <p:cNvSpPr/>
          <p:nvPr/>
        </p:nvSpPr>
        <p:spPr>
          <a:xfrm>
            <a:off x="6583045" y="3314700"/>
            <a:ext cx="883920" cy="884555"/>
          </a:xfrm>
          <a:custGeom>
            <a:avLst/>
            <a:gdLst>
              <a:gd name="connisteX0" fmla="*/ 883966 w 883966"/>
              <a:gd name="connsiteY0" fmla="*/ 442041 h 884083"/>
              <a:gd name="connisteX1" fmla="*/ 441983 w 883966"/>
              <a:gd name="connsiteY1" fmla="*/ 884083 h 884083"/>
              <a:gd name="connisteX2" fmla="*/ 0 w 883966"/>
              <a:gd name="connsiteY2" fmla="*/ 442041 h 884083"/>
              <a:gd name="connisteX3" fmla="*/ 441983 w 883966"/>
              <a:gd name="connsiteY3" fmla="*/ 0 h 884083"/>
              <a:gd name="connisteX4" fmla="*/ 883966 w 883966"/>
              <a:gd name="connsiteY4" fmla="*/ 442041 h 8840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83966" h="884084">
                <a:moveTo>
                  <a:pt x="883966" y="442042"/>
                </a:moveTo>
                <a:cubicBezTo>
                  <a:pt x="883966" y="686175"/>
                  <a:pt x="686083" y="884084"/>
                  <a:pt x="441983" y="884084"/>
                </a:cubicBezTo>
                <a:cubicBezTo>
                  <a:pt x="197883" y="884084"/>
                  <a:pt x="0" y="686175"/>
                  <a:pt x="0" y="442042"/>
                </a:cubicBezTo>
                <a:cubicBezTo>
                  <a:pt x="0" y="197909"/>
                  <a:pt x="197883" y="0"/>
                  <a:pt x="441983" y="0"/>
                </a:cubicBezTo>
                <a:cubicBezTo>
                  <a:pt x="686083" y="0"/>
                  <a:pt x="883966" y="197909"/>
                  <a:pt x="883966" y="442042"/>
                </a:cubicBezTo>
                <a:close/>
              </a:path>
            </a:pathLst>
          </a:custGeom>
          <a:solidFill>
            <a:srgbClr val="E0EFFB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58" name="组合 157"/>
          <p:cNvGrpSpPr/>
          <p:nvPr/>
        </p:nvGrpSpPr>
        <p:grpSpPr>
          <a:xfrm>
            <a:off x="6753860" y="3503930"/>
            <a:ext cx="561340" cy="524510"/>
            <a:chOff x="10636" y="5518"/>
            <a:chExt cx="884" cy="826"/>
          </a:xfrm>
        </p:grpSpPr>
        <p:sp>
          <p:nvSpPr>
            <p:cNvPr id="153" name="任意多边形 152"/>
            <p:cNvSpPr/>
            <p:nvPr/>
          </p:nvSpPr>
          <p:spPr>
            <a:xfrm>
              <a:off x="10768" y="5666"/>
              <a:ext cx="295" cy="531"/>
            </a:xfrm>
            <a:custGeom>
              <a:avLst/>
              <a:gdLst>
                <a:gd name="connisteX0" fmla="*/ 187244 w 187244"/>
                <a:gd name="connsiteY0" fmla="*/ 0 h 337084"/>
                <a:gd name="connisteX1" fmla="*/ 0 w 187244"/>
                <a:gd name="connsiteY1" fmla="*/ 337084 h 3370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87244" h="337084">
                  <a:moveTo>
                    <a:pt x="187244" y="0"/>
                  </a:moveTo>
                  <a:lnTo>
                    <a:pt x="0" y="337084"/>
                  </a:lnTo>
                </a:path>
              </a:pathLst>
            </a:custGeom>
            <a:solidFill>
              <a:srgbClr val="000000"/>
            </a:solidFill>
            <a:ln w="37451" cap="rnd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11063" y="5666"/>
              <a:ext cx="324" cy="546"/>
            </a:xfrm>
            <a:custGeom>
              <a:avLst/>
              <a:gdLst>
                <a:gd name="connisteX0" fmla="*/ 0 w 205968"/>
                <a:gd name="connsiteY0" fmla="*/ 0 h 346447"/>
                <a:gd name="connisteX1" fmla="*/ 205968 w 205968"/>
                <a:gd name="connsiteY1" fmla="*/ 346447 h 3464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05968" h="346448">
                  <a:moveTo>
                    <a:pt x="0" y="0"/>
                  </a:moveTo>
                  <a:lnTo>
                    <a:pt x="205968" y="346448"/>
                  </a:lnTo>
                </a:path>
              </a:pathLst>
            </a:custGeom>
            <a:solidFill>
              <a:srgbClr val="000000"/>
            </a:solidFill>
            <a:ln w="37451" cap="rnd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10945" y="5518"/>
              <a:ext cx="236" cy="236"/>
            </a:xfrm>
            <a:custGeom>
              <a:avLst/>
              <a:gdLst>
                <a:gd name="connisteX0" fmla="*/ 149795 w 149795"/>
                <a:gd name="connsiteY0" fmla="*/ 74907 h 149815"/>
                <a:gd name="connisteX1" fmla="*/ 74897 w 149795"/>
                <a:gd name="connsiteY1" fmla="*/ 149815 h 149815"/>
                <a:gd name="connisteX2" fmla="*/ 0 w 149795"/>
                <a:gd name="connsiteY2" fmla="*/ 74907 h 149815"/>
                <a:gd name="connisteX3" fmla="*/ 74897 w 149795"/>
                <a:gd name="connsiteY3" fmla="*/ 0 h 149815"/>
                <a:gd name="connisteX4" fmla="*/ 149795 w 149795"/>
                <a:gd name="connsiteY4" fmla="*/ 74907 h 149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9795" h="149815">
                  <a:moveTo>
                    <a:pt x="149795" y="74908"/>
                  </a:moveTo>
                  <a:cubicBezTo>
                    <a:pt x="149795" y="116278"/>
                    <a:pt x="116262" y="149815"/>
                    <a:pt x="74898" y="149815"/>
                  </a:cubicBezTo>
                  <a:cubicBezTo>
                    <a:pt x="33533" y="149815"/>
                    <a:pt x="0" y="116278"/>
                    <a:pt x="0" y="74908"/>
                  </a:cubicBezTo>
                  <a:cubicBezTo>
                    <a:pt x="0" y="33537"/>
                    <a:pt x="33533" y="0"/>
                    <a:pt x="74898" y="0"/>
                  </a:cubicBezTo>
                  <a:cubicBezTo>
                    <a:pt x="116262" y="0"/>
                    <a:pt x="149795" y="33537"/>
                    <a:pt x="149795" y="74908"/>
                  </a:cubicBezTo>
                  <a:close/>
                </a:path>
              </a:pathLst>
            </a:custGeom>
            <a:solidFill>
              <a:srgbClr val="FFFFFF"/>
            </a:solidFill>
            <a:ln w="37451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10636" y="6094"/>
              <a:ext cx="235" cy="235"/>
            </a:xfrm>
            <a:custGeom>
              <a:avLst/>
              <a:gdLst>
                <a:gd name="connisteX0" fmla="*/ 149795 w 149795"/>
                <a:gd name="connsiteY0" fmla="*/ 74907 h 149815"/>
                <a:gd name="connisteX1" fmla="*/ 74897 w 149795"/>
                <a:gd name="connsiteY1" fmla="*/ 149815 h 149815"/>
                <a:gd name="connisteX2" fmla="*/ 0 w 149795"/>
                <a:gd name="connsiteY2" fmla="*/ 74907 h 149815"/>
                <a:gd name="connisteX3" fmla="*/ 74897 w 149795"/>
                <a:gd name="connsiteY3" fmla="*/ 0 h 149815"/>
                <a:gd name="connisteX4" fmla="*/ 149795 w 149795"/>
                <a:gd name="connsiteY4" fmla="*/ 74907 h 149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9795" h="149815">
                  <a:moveTo>
                    <a:pt x="149795" y="74908"/>
                  </a:moveTo>
                  <a:cubicBezTo>
                    <a:pt x="149795" y="116278"/>
                    <a:pt x="116262" y="149815"/>
                    <a:pt x="74898" y="149815"/>
                  </a:cubicBezTo>
                  <a:cubicBezTo>
                    <a:pt x="33533" y="149815"/>
                    <a:pt x="0" y="116278"/>
                    <a:pt x="0" y="74908"/>
                  </a:cubicBezTo>
                  <a:cubicBezTo>
                    <a:pt x="0" y="33537"/>
                    <a:pt x="33533" y="0"/>
                    <a:pt x="74898" y="0"/>
                  </a:cubicBezTo>
                  <a:cubicBezTo>
                    <a:pt x="116262" y="0"/>
                    <a:pt x="149795" y="33537"/>
                    <a:pt x="149795" y="74908"/>
                  </a:cubicBezTo>
                  <a:close/>
                </a:path>
              </a:pathLst>
            </a:custGeom>
            <a:solidFill>
              <a:srgbClr val="FFFFFF"/>
            </a:solidFill>
            <a:ln w="37451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>
              <a:off x="11284" y="6108"/>
              <a:ext cx="236" cy="236"/>
            </a:xfrm>
            <a:custGeom>
              <a:avLst/>
              <a:gdLst>
                <a:gd name="connisteX0" fmla="*/ 149795 w 149795"/>
                <a:gd name="connsiteY0" fmla="*/ 74907 h 149815"/>
                <a:gd name="connisteX1" fmla="*/ 74897 w 149795"/>
                <a:gd name="connsiteY1" fmla="*/ 149815 h 149815"/>
                <a:gd name="connisteX2" fmla="*/ 0 w 149795"/>
                <a:gd name="connsiteY2" fmla="*/ 74907 h 149815"/>
                <a:gd name="connisteX3" fmla="*/ 74897 w 149795"/>
                <a:gd name="connsiteY3" fmla="*/ 0 h 149815"/>
                <a:gd name="connisteX4" fmla="*/ 149795 w 149795"/>
                <a:gd name="connsiteY4" fmla="*/ 74907 h 149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49795" h="149815">
                  <a:moveTo>
                    <a:pt x="149795" y="74908"/>
                  </a:moveTo>
                  <a:cubicBezTo>
                    <a:pt x="149795" y="116278"/>
                    <a:pt x="116262" y="149815"/>
                    <a:pt x="74898" y="149815"/>
                  </a:cubicBezTo>
                  <a:cubicBezTo>
                    <a:pt x="33533" y="149815"/>
                    <a:pt x="0" y="116278"/>
                    <a:pt x="0" y="74908"/>
                  </a:cubicBezTo>
                  <a:cubicBezTo>
                    <a:pt x="0" y="33537"/>
                    <a:pt x="33533" y="0"/>
                    <a:pt x="74898" y="0"/>
                  </a:cubicBezTo>
                  <a:cubicBezTo>
                    <a:pt x="116262" y="0"/>
                    <a:pt x="149795" y="33537"/>
                    <a:pt x="149795" y="74908"/>
                  </a:cubicBezTo>
                  <a:close/>
                </a:path>
              </a:pathLst>
            </a:custGeom>
            <a:solidFill>
              <a:srgbClr val="FFFFFF"/>
            </a:solidFill>
            <a:ln w="37451" cap="flat">
              <a:solidFill>
                <a:srgbClr val="075494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9" name="文本框 158"/>
          <p:cNvSpPr txBox="1"/>
          <p:nvPr/>
        </p:nvSpPr>
        <p:spPr>
          <a:xfrm>
            <a:off x="7612380" y="3326130"/>
            <a:ext cx="2644140" cy="36830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algn="l"/>
            <a:r>
              <a:rPr lang="zh-CN" altLang="en-US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邻域搜索（LightRAG）</a:t>
            </a:r>
            <a:endParaRPr lang="zh-CN" altLang="en-US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7611745" y="3719195"/>
            <a:ext cx="351282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擅长围绕核心实体进行局部关系扩展，适合</a:t>
            </a:r>
            <a:endParaRPr lang="zh-CN" altLang="en-US" sz="1380">
              <a:solidFill>
                <a:srgbClr val="354553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7614920" y="3955415"/>
            <a:ext cx="368808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实体关联明显、需要局部多证据聚合的问题。</a:t>
            </a:r>
            <a:endParaRPr lang="zh-CN" altLang="en-US" sz="1380">
              <a:solidFill>
                <a:srgbClr val="354553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400165" y="4511675"/>
            <a:ext cx="5524500" cy="1280160"/>
          </a:xfrm>
          <a:custGeom>
            <a:avLst/>
            <a:gdLst>
              <a:gd name="connisteX0" fmla="*/ 0 w 5524787"/>
              <a:gd name="connsiteY0" fmla="*/ 121637 h 1280397"/>
              <a:gd name="connisteX1" fmla="*/ 110495 w 5524787"/>
              <a:gd name="connsiteY1" fmla="*/ 0 h 1280397"/>
              <a:gd name="connisteX2" fmla="*/ 5414291 w 5524787"/>
              <a:gd name="connsiteY2" fmla="*/ 0 h 1280397"/>
              <a:gd name="connisteX3" fmla="*/ 5524787 w 5524787"/>
              <a:gd name="connsiteY3" fmla="*/ 121637 h 1280397"/>
              <a:gd name="connisteX4" fmla="*/ 5524787 w 5524787"/>
              <a:gd name="connsiteY4" fmla="*/ 1158759 h 1280397"/>
              <a:gd name="connisteX5" fmla="*/ 5414291 w 5524787"/>
              <a:gd name="connsiteY5" fmla="*/ 1280397 h 1280397"/>
              <a:gd name="connisteX6" fmla="*/ 110495 w 5524787"/>
              <a:gd name="connsiteY6" fmla="*/ 1280397 h 1280397"/>
              <a:gd name="connisteX7" fmla="*/ 0 w 5524787"/>
              <a:gd name="connsiteY7" fmla="*/ 1158759 h 1280397"/>
              <a:gd name="connisteX8" fmla="*/ 0 w 5524787"/>
              <a:gd name="connsiteY8" fmla="*/ 121637 h 12803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24788" h="1280397">
                <a:moveTo>
                  <a:pt x="0" y="121638"/>
                </a:moveTo>
                <a:cubicBezTo>
                  <a:pt x="0" y="54459"/>
                  <a:pt x="49471" y="0"/>
                  <a:pt x="110496" y="0"/>
                </a:cubicBezTo>
                <a:lnTo>
                  <a:pt x="5414292" y="0"/>
                </a:lnTo>
                <a:cubicBezTo>
                  <a:pt x="5475317" y="0"/>
                  <a:pt x="5524788" y="54459"/>
                  <a:pt x="5524788" y="121638"/>
                </a:cubicBezTo>
                <a:lnTo>
                  <a:pt x="5524788" y="1158759"/>
                </a:lnTo>
                <a:cubicBezTo>
                  <a:pt x="5524788" y="1225938"/>
                  <a:pt x="5475317" y="1280397"/>
                  <a:pt x="5414292" y="1280397"/>
                </a:cubicBezTo>
                <a:lnTo>
                  <a:pt x="110496" y="1280397"/>
                </a:lnTo>
                <a:cubicBezTo>
                  <a:pt x="49471" y="1280397"/>
                  <a:pt x="0" y="1225938"/>
                  <a:pt x="0" y="1158759"/>
                </a:cubicBezTo>
                <a:lnTo>
                  <a:pt x="0" y="121638"/>
                </a:lnTo>
                <a:close/>
              </a:path>
            </a:pathLst>
          </a:custGeom>
          <a:solidFill>
            <a:srgbClr val="F6FAFE"/>
          </a:solidFill>
          <a:ln w="11431" cap="flat">
            <a:solidFill>
              <a:srgbClr val="62A4E1"/>
            </a:solidFill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任意多边形 162"/>
          <p:cNvSpPr/>
          <p:nvPr/>
        </p:nvSpPr>
        <p:spPr>
          <a:xfrm>
            <a:off x="6583045" y="4709795"/>
            <a:ext cx="883920" cy="883920"/>
          </a:xfrm>
          <a:custGeom>
            <a:avLst/>
            <a:gdLst>
              <a:gd name="connisteX0" fmla="*/ 883966 w 883966"/>
              <a:gd name="connsiteY0" fmla="*/ 442041 h 884083"/>
              <a:gd name="connisteX1" fmla="*/ 441983 w 883966"/>
              <a:gd name="connsiteY1" fmla="*/ 884083 h 884083"/>
              <a:gd name="connisteX2" fmla="*/ 0 w 883966"/>
              <a:gd name="connsiteY2" fmla="*/ 442041 h 884083"/>
              <a:gd name="connisteX3" fmla="*/ 441983 w 883966"/>
              <a:gd name="connsiteY3" fmla="*/ 0 h 884083"/>
              <a:gd name="connisteX4" fmla="*/ 883966 w 883966"/>
              <a:gd name="connsiteY4" fmla="*/ 442041 h 88408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883966" h="884084">
                <a:moveTo>
                  <a:pt x="883966" y="442042"/>
                </a:moveTo>
                <a:cubicBezTo>
                  <a:pt x="883966" y="686175"/>
                  <a:pt x="686083" y="884084"/>
                  <a:pt x="441983" y="884084"/>
                </a:cubicBezTo>
                <a:cubicBezTo>
                  <a:pt x="197883" y="884084"/>
                  <a:pt x="0" y="686175"/>
                  <a:pt x="0" y="442042"/>
                </a:cubicBezTo>
                <a:cubicBezTo>
                  <a:pt x="0" y="197909"/>
                  <a:pt x="197883" y="0"/>
                  <a:pt x="441983" y="0"/>
                </a:cubicBezTo>
                <a:cubicBezTo>
                  <a:pt x="686083" y="0"/>
                  <a:pt x="883966" y="197909"/>
                  <a:pt x="883966" y="442042"/>
                </a:cubicBezTo>
                <a:close/>
              </a:path>
            </a:pathLst>
          </a:custGeom>
          <a:solidFill>
            <a:srgbClr val="E0EFFB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69" name="组合 168"/>
          <p:cNvGrpSpPr/>
          <p:nvPr/>
        </p:nvGrpSpPr>
        <p:grpSpPr>
          <a:xfrm>
            <a:off x="6745605" y="4833620"/>
            <a:ext cx="559435" cy="589915"/>
            <a:chOff x="10623" y="7612"/>
            <a:chExt cx="881" cy="929"/>
          </a:xfrm>
        </p:grpSpPr>
        <p:sp>
          <p:nvSpPr>
            <p:cNvPr id="164" name="任意多边形 163"/>
            <p:cNvSpPr/>
            <p:nvPr/>
          </p:nvSpPr>
          <p:spPr>
            <a:xfrm>
              <a:off x="10783" y="7862"/>
              <a:ext cx="575" cy="583"/>
            </a:xfrm>
            <a:custGeom>
              <a:avLst/>
              <a:gdLst>
                <a:gd name="connisteX0" fmla="*/ 0 w 365125"/>
                <a:gd name="connsiteY0" fmla="*/ 355811 h 369880"/>
                <a:gd name="connisteX1" fmla="*/ 365125 w 365125"/>
                <a:gd name="connsiteY1" fmla="*/ 0 h 36988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65126" h="369881">
                  <a:moveTo>
                    <a:pt x="0" y="355811"/>
                  </a:moveTo>
                  <a:cubicBezTo>
                    <a:pt x="402575" y="449446"/>
                    <a:pt x="65535" y="46817"/>
                    <a:pt x="365126" y="0"/>
                  </a:cubicBezTo>
                </a:path>
              </a:pathLst>
            </a:custGeom>
            <a:noFill/>
            <a:ln w="37451" cap="rnd">
              <a:solidFill>
                <a:srgbClr val="075494"/>
              </a:solidFill>
              <a:custDash>
                <a:ds d="175000" sp="200000"/>
              </a:custDash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>
              <a:off x="10623" y="8157"/>
              <a:ext cx="291" cy="384"/>
            </a:xfrm>
            <a:custGeom>
              <a:avLst/>
              <a:gdLst>
                <a:gd name="connisteX0" fmla="*/ 92466 w 184932"/>
                <a:gd name="connsiteY0" fmla="*/ 243449 h 243449"/>
                <a:gd name="connisteX1" fmla="*/ 92466 w 184932"/>
                <a:gd name="connsiteY1" fmla="*/ 0 h 243449"/>
                <a:gd name="connisteX2" fmla="*/ 92466 w 184932"/>
                <a:gd name="connsiteY2" fmla="*/ 243449 h 2434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84932" h="243450">
                  <a:moveTo>
                    <a:pt x="92466" y="243450"/>
                  </a:moveTo>
                  <a:cubicBezTo>
                    <a:pt x="-57329" y="84271"/>
                    <a:pt x="-1156" y="0"/>
                    <a:pt x="92466" y="0"/>
                  </a:cubicBezTo>
                  <a:cubicBezTo>
                    <a:pt x="186088" y="0"/>
                    <a:pt x="242261" y="84271"/>
                    <a:pt x="92466" y="243450"/>
                  </a:cubicBezTo>
                  <a:close/>
                </a:path>
              </a:pathLst>
            </a:custGeom>
            <a:solidFill>
              <a:srgbClr val="0754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>
              <a:off x="10709" y="8246"/>
              <a:ext cx="118" cy="118"/>
            </a:xfrm>
            <a:custGeom>
              <a:avLst/>
              <a:gdLst>
                <a:gd name="connisteX0" fmla="*/ 74897 w 74897"/>
                <a:gd name="connsiteY0" fmla="*/ 37453 h 74907"/>
                <a:gd name="connisteX1" fmla="*/ 37448 w 74897"/>
                <a:gd name="connsiteY1" fmla="*/ 74907 h 74907"/>
                <a:gd name="connisteX2" fmla="*/ 0 w 74897"/>
                <a:gd name="connsiteY2" fmla="*/ 37453 h 74907"/>
                <a:gd name="connisteX3" fmla="*/ 37448 w 74897"/>
                <a:gd name="connsiteY3" fmla="*/ 0 h 74907"/>
                <a:gd name="connisteX4" fmla="*/ 74897 w 74897"/>
                <a:gd name="connsiteY4" fmla="*/ 37453 h 7490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4898" h="74908">
                  <a:moveTo>
                    <a:pt x="74898" y="37454"/>
                  </a:moveTo>
                  <a:cubicBezTo>
                    <a:pt x="74898" y="58139"/>
                    <a:pt x="58131" y="74908"/>
                    <a:pt x="37449" y="74908"/>
                  </a:cubicBezTo>
                  <a:cubicBezTo>
                    <a:pt x="16766" y="74908"/>
                    <a:pt x="0" y="58139"/>
                    <a:pt x="0" y="37454"/>
                  </a:cubicBezTo>
                  <a:cubicBezTo>
                    <a:pt x="0" y="16769"/>
                    <a:pt x="16766" y="0"/>
                    <a:pt x="37449" y="0"/>
                  </a:cubicBezTo>
                  <a:cubicBezTo>
                    <a:pt x="58131" y="0"/>
                    <a:pt x="74898" y="16769"/>
                    <a:pt x="74898" y="374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任意多边形 166"/>
            <p:cNvSpPr/>
            <p:nvPr/>
          </p:nvSpPr>
          <p:spPr>
            <a:xfrm>
              <a:off x="11212" y="7612"/>
              <a:ext cx="292" cy="383"/>
            </a:xfrm>
            <a:custGeom>
              <a:avLst/>
              <a:gdLst>
                <a:gd name="connisteX0" fmla="*/ 92466 w 184932"/>
                <a:gd name="connsiteY0" fmla="*/ 243449 h 243449"/>
                <a:gd name="connisteX1" fmla="*/ 92466 w 184932"/>
                <a:gd name="connsiteY1" fmla="*/ 0 h 243449"/>
                <a:gd name="connisteX2" fmla="*/ 92466 w 184932"/>
                <a:gd name="connsiteY2" fmla="*/ 243449 h 24344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84932" h="243450">
                  <a:moveTo>
                    <a:pt x="92466" y="243450"/>
                  </a:moveTo>
                  <a:cubicBezTo>
                    <a:pt x="-57329" y="84271"/>
                    <a:pt x="-1156" y="0"/>
                    <a:pt x="92466" y="0"/>
                  </a:cubicBezTo>
                  <a:cubicBezTo>
                    <a:pt x="186088" y="0"/>
                    <a:pt x="242261" y="84271"/>
                    <a:pt x="92466" y="243450"/>
                  </a:cubicBezTo>
                  <a:close/>
                </a:path>
              </a:pathLst>
            </a:custGeom>
            <a:solidFill>
              <a:srgbClr val="0754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11299" y="7700"/>
              <a:ext cx="118" cy="118"/>
            </a:xfrm>
            <a:custGeom>
              <a:avLst/>
              <a:gdLst>
                <a:gd name="connisteX0" fmla="*/ 74897 w 74897"/>
                <a:gd name="connsiteY0" fmla="*/ 37453 h 74907"/>
                <a:gd name="connisteX1" fmla="*/ 37448 w 74897"/>
                <a:gd name="connsiteY1" fmla="*/ 74907 h 74907"/>
                <a:gd name="connisteX2" fmla="*/ 0 w 74897"/>
                <a:gd name="connsiteY2" fmla="*/ 37453 h 74907"/>
                <a:gd name="connisteX3" fmla="*/ 37448 w 74897"/>
                <a:gd name="connsiteY3" fmla="*/ 0 h 74907"/>
                <a:gd name="connisteX4" fmla="*/ 74897 w 74897"/>
                <a:gd name="connsiteY4" fmla="*/ 37453 h 7490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74898" h="74908">
                  <a:moveTo>
                    <a:pt x="74898" y="37454"/>
                  </a:moveTo>
                  <a:cubicBezTo>
                    <a:pt x="74898" y="58139"/>
                    <a:pt x="58131" y="74908"/>
                    <a:pt x="37449" y="74908"/>
                  </a:cubicBezTo>
                  <a:cubicBezTo>
                    <a:pt x="16766" y="74908"/>
                    <a:pt x="0" y="58139"/>
                    <a:pt x="0" y="37454"/>
                  </a:cubicBezTo>
                  <a:cubicBezTo>
                    <a:pt x="0" y="16769"/>
                    <a:pt x="16766" y="0"/>
                    <a:pt x="37449" y="0"/>
                  </a:cubicBezTo>
                  <a:cubicBezTo>
                    <a:pt x="58131" y="0"/>
                    <a:pt x="74898" y="16769"/>
                    <a:pt x="74898" y="374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7614920" y="4717415"/>
            <a:ext cx="2574925" cy="36830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路径搜索（PathRAG）</a:t>
            </a:r>
            <a:endParaRPr lang="zh-CN" altLang="en-US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7611745" y="5113655"/>
            <a:ext cx="351282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擅长沿关系路径组织证据，适合多跳推理、</a:t>
            </a:r>
            <a:endParaRPr lang="zh-CN" altLang="en-US" sz="1380">
              <a:solidFill>
                <a:srgbClr val="354553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7611110" y="5349875"/>
            <a:ext cx="3162300" cy="30353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380">
                <a:solidFill>
                  <a:srgbClr val="354553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跨文档关联、需要清晰推理链的问题。</a:t>
            </a:r>
            <a:endParaRPr lang="zh-CN" altLang="en-US" sz="1380">
              <a:solidFill>
                <a:srgbClr val="354553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任意多边形 172"/>
          <p:cNvSpPr/>
          <p:nvPr/>
        </p:nvSpPr>
        <p:spPr>
          <a:xfrm>
            <a:off x="6400165" y="5951855"/>
            <a:ext cx="5524500" cy="739140"/>
          </a:xfrm>
          <a:custGeom>
            <a:avLst/>
            <a:gdLst>
              <a:gd name="connisteX0" fmla="*/ 0 w 5524787"/>
              <a:gd name="connsiteY0" fmla="*/ 96105 h 739276"/>
              <a:gd name="connisteX1" fmla="*/ 82871 w 5524787"/>
              <a:gd name="connsiteY1" fmla="*/ 0 h 739276"/>
              <a:gd name="connisteX2" fmla="*/ 5441915 w 5524787"/>
              <a:gd name="connsiteY2" fmla="*/ 0 h 739276"/>
              <a:gd name="connisteX3" fmla="*/ 5524787 w 5524787"/>
              <a:gd name="connsiteY3" fmla="*/ 96105 h 739276"/>
              <a:gd name="connisteX4" fmla="*/ 5524787 w 5524787"/>
              <a:gd name="connsiteY4" fmla="*/ 643170 h 739276"/>
              <a:gd name="connisteX5" fmla="*/ 5441915 w 5524787"/>
              <a:gd name="connsiteY5" fmla="*/ 739276 h 739276"/>
              <a:gd name="connisteX6" fmla="*/ 82871 w 5524787"/>
              <a:gd name="connsiteY6" fmla="*/ 739276 h 739276"/>
              <a:gd name="connisteX7" fmla="*/ 0 w 5524787"/>
              <a:gd name="connsiteY7" fmla="*/ 643170 h 739276"/>
              <a:gd name="connisteX8" fmla="*/ 0 w 5524787"/>
              <a:gd name="connsiteY8" fmla="*/ 96105 h 73927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5524788" h="739277">
                <a:moveTo>
                  <a:pt x="0" y="96106"/>
                </a:moveTo>
                <a:cubicBezTo>
                  <a:pt x="0" y="43028"/>
                  <a:pt x="37103" y="0"/>
                  <a:pt x="82872" y="0"/>
                </a:cubicBezTo>
                <a:lnTo>
                  <a:pt x="5441916" y="0"/>
                </a:lnTo>
                <a:cubicBezTo>
                  <a:pt x="5487685" y="0"/>
                  <a:pt x="5524788" y="43028"/>
                  <a:pt x="5524788" y="96106"/>
                </a:cubicBezTo>
                <a:lnTo>
                  <a:pt x="5524788" y="643171"/>
                </a:lnTo>
                <a:cubicBezTo>
                  <a:pt x="5524788" y="696249"/>
                  <a:pt x="5487685" y="739277"/>
                  <a:pt x="5441916" y="739277"/>
                </a:cubicBezTo>
                <a:lnTo>
                  <a:pt x="82872" y="739277"/>
                </a:lnTo>
                <a:cubicBezTo>
                  <a:pt x="37103" y="739277"/>
                  <a:pt x="0" y="696249"/>
                  <a:pt x="0" y="643171"/>
                </a:cubicBezTo>
                <a:lnTo>
                  <a:pt x="0" y="96106"/>
                </a:lnTo>
                <a:close/>
              </a:path>
            </a:pathLst>
          </a:custGeom>
          <a:solidFill>
            <a:srgbClr val="E7F5FC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178" name="组合 177"/>
          <p:cNvGrpSpPr/>
          <p:nvPr/>
        </p:nvGrpSpPr>
        <p:grpSpPr>
          <a:xfrm>
            <a:off x="6588760" y="6176645"/>
            <a:ext cx="201930" cy="297180"/>
            <a:chOff x="10376" y="9727"/>
            <a:chExt cx="318" cy="468"/>
          </a:xfrm>
        </p:grpSpPr>
        <p:sp>
          <p:nvSpPr>
            <p:cNvPr id="174" name="任意多边形 173"/>
            <p:cNvSpPr/>
            <p:nvPr/>
          </p:nvSpPr>
          <p:spPr>
            <a:xfrm>
              <a:off x="10376" y="9727"/>
              <a:ext cx="318" cy="468"/>
            </a:xfrm>
            <a:custGeom>
              <a:avLst/>
              <a:gdLst>
                <a:gd name="connisteX0" fmla="*/ 0 w 202484"/>
                <a:gd name="connsiteY0" fmla="*/ 26731 h 297017"/>
                <a:gd name="connisteX1" fmla="*/ 26323 w 202484"/>
                <a:gd name="connsiteY1" fmla="*/ 0 h 297017"/>
                <a:gd name="connisteX2" fmla="*/ 176161 w 202484"/>
                <a:gd name="connsiteY2" fmla="*/ 0 h 297017"/>
                <a:gd name="connisteX3" fmla="*/ 202484 w 202484"/>
                <a:gd name="connsiteY3" fmla="*/ 26731 h 297017"/>
                <a:gd name="connisteX4" fmla="*/ 202484 w 202484"/>
                <a:gd name="connsiteY4" fmla="*/ 270285 h 297017"/>
                <a:gd name="connisteX5" fmla="*/ 176161 w 202484"/>
                <a:gd name="connsiteY5" fmla="*/ 297017 h 297017"/>
                <a:gd name="connisteX6" fmla="*/ 26323 w 202484"/>
                <a:gd name="connsiteY6" fmla="*/ 297017 h 297017"/>
                <a:gd name="connisteX7" fmla="*/ 0 w 202484"/>
                <a:gd name="connsiteY7" fmla="*/ 270285 h 297017"/>
                <a:gd name="connisteX8" fmla="*/ 0 w 202484"/>
                <a:gd name="connsiteY8" fmla="*/ 26731 h 2970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202485" h="297017">
                  <a:moveTo>
                    <a:pt x="0" y="26732"/>
                  </a:moveTo>
                  <a:cubicBezTo>
                    <a:pt x="0" y="11968"/>
                    <a:pt x="11785" y="0"/>
                    <a:pt x="26323" y="0"/>
                  </a:cubicBezTo>
                  <a:lnTo>
                    <a:pt x="176162" y="0"/>
                  </a:lnTo>
                  <a:cubicBezTo>
                    <a:pt x="190700" y="0"/>
                    <a:pt x="202485" y="11968"/>
                    <a:pt x="202485" y="26732"/>
                  </a:cubicBezTo>
                  <a:lnTo>
                    <a:pt x="202485" y="270286"/>
                  </a:lnTo>
                  <a:cubicBezTo>
                    <a:pt x="202485" y="285049"/>
                    <a:pt x="190700" y="297017"/>
                    <a:pt x="176162" y="297017"/>
                  </a:cubicBezTo>
                  <a:lnTo>
                    <a:pt x="26323" y="297017"/>
                  </a:lnTo>
                  <a:cubicBezTo>
                    <a:pt x="11785" y="297017"/>
                    <a:pt x="0" y="285049"/>
                    <a:pt x="0" y="270286"/>
                  </a:cubicBezTo>
                  <a:lnTo>
                    <a:pt x="0" y="26732"/>
                  </a:lnTo>
                  <a:close/>
                </a:path>
              </a:pathLst>
            </a:custGeom>
            <a:solidFill>
              <a:srgbClr val="07549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任意多边形 174"/>
            <p:cNvSpPr/>
            <p:nvPr/>
          </p:nvSpPr>
          <p:spPr>
            <a:xfrm>
              <a:off x="10461" y="9844"/>
              <a:ext cx="148" cy="0"/>
            </a:xfrm>
            <a:custGeom>
              <a:avLst/>
              <a:gdLst>
                <a:gd name="connisteX0" fmla="*/ 0 w 94492"/>
                <a:gd name="connsiteY0" fmla="*/ 0 h 0"/>
                <a:gd name="connisteX1" fmla="*/ 94492 w 9449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94493">
                  <a:moveTo>
                    <a:pt x="0" y="0"/>
                  </a:moveTo>
                  <a:lnTo>
                    <a:pt x="94493" y="0"/>
                  </a:lnTo>
                </a:path>
              </a:pathLst>
            </a:custGeom>
            <a:solidFill>
              <a:srgbClr val="000000"/>
            </a:solidFill>
            <a:ln w="16875" cap="rnd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任意多边形 175"/>
            <p:cNvSpPr/>
            <p:nvPr/>
          </p:nvSpPr>
          <p:spPr>
            <a:xfrm>
              <a:off x="10461" y="9961"/>
              <a:ext cx="148" cy="0"/>
            </a:xfrm>
            <a:custGeom>
              <a:avLst/>
              <a:gdLst>
                <a:gd name="connisteX0" fmla="*/ 0 w 94492"/>
                <a:gd name="connsiteY0" fmla="*/ 0 h 0"/>
                <a:gd name="connisteX1" fmla="*/ 94492 w 9449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94493">
                  <a:moveTo>
                    <a:pt x="0" y="0"/>
                  </a:moveTo>
                  <a:lnTo>
                    <a:pt x="94493" y="0"/>
                  </a:lnTo>
                </a:path>
              </a:pathLst>
            </a:custGeom>
            <a:solidFill>
              <a:srgbClr val="000000"/>
            </a:solidFill>
            <a:ln w="16875" cap="rnd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任意多边形 176"/>
            <p:cNvSpPr/>
            <p:nvPr/>
          </p:nvSpPr>
          <p:spPr>
            <a:xfrm>
              <a:off x="10461" y="10078"/>
              <a:ext cx="148" cy="0"/>
            </a:xfrm>
            <a:custGeom>
              <a:avLst/>
              <a:gdLst>
                <a:gd name="connisteX0" fmla="*/ 0 w 94492"/>
                <a:gd name="connsiteY0" fmla="*/ 0 h 0"/>
                <a:gd name="connisteX1" fmla="*/ 94492 w 94492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94493">
                  <a:moveTo>
                    <a:pt x="0" y="0"/>
                  </a:moveTo>
                  <a:lnTo>
                    <a:pt x="94493" y="0"/>
                  </a:lnTo>
                </a:path>
              </a:pathLst>
            </a:custGeom>
            <a:solidFill>
              <a:srgbClr val="000000"/>
            </a:solidFill>
            <a:ln w="16875" cap="rnd">
              <a:solidFill>
                <a:srgbClr val="FFFFFF"/>
              </a:solidFill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9" name="文本框 178"/>
          <p:cNvSpPr txBox="1"/>
          <p:nvPr/>
        </p:nvSpPr>
        <p:spPr>
          <a:xfrm>
            <a:off x="7047230" y="6047105"/>
            <a:ext cx="38023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5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因此，本项目采用路由机制，根据问题特征</a:t>
            </a:r>
            <a:endParaRPr lang="zh-CN" altLang="en-US" sz="15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7031990" y="6298565"/>
            <a:ext cx="2278380" cy="321945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r>
              <a:rPr lang="zh-CN" altLang="en-US" sz="1500" b="1">
                <a:solidFill>
                  <a:srgbClr val="075494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选择最合适的检索策略。</a:t>
            </a:r>
            <a:endParaRPr lang="zh-CN" altLang="en-US" sz="1500" b="1">
              <a:solidFill>
                <a:srgbClr val="075494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2" name="图片 181"/>
          <p:cNvPicPr>
            <a:picLocks noChangeAspect="1"/>
          </p:cNvPicPr>
          <p:nvPr userDrawn="1"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147" y="40972"/>
            <a:ext cx="2348489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2d179bba-53ec-444f-bf40-3952df2698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hatGPT Image 2026年9月9日 17_42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8549248d-220c-46d9-b056-46d09d4fd3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59a09f3-9f12-49ff-9f12-14a568b6095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6779bc1-c8f7-454b-a597-5733187113a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8540" y="311540"/>
            <a:ext cx="6234920" cy="62349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2" b="14592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</a:t>
            </a:r>
            <a:r>
              <a:rPr lang="zh-CN" altLang="en-US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sym typeface="+mn-ea"/>
              </a:rPr>
              <a:t>汪予涵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指导老师：王鑫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2009775" y="2501265"/>
            <a:ext cx="8489950" cy="1069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325577" y="4007053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 you for listening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438708" y="3768247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15" y="531723"/>
            <a:ext cx="4906970" cy="1533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014B88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014B88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WPS 演示</Application>
  <PresentationFormat>宽屏</PresentationFormat>
  <Paragraphs>99</Paragraphs>
  <Slides>8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等线</vt:lpstr>
      <vt:lpstr>Microsoft YaHei UI</vt:lpstr>
      <vt:lpstr>Arial Unicode MS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qing</cp:lastModifiedBy>
  <cp:revision>54</cp:revision>
  <dcterms:created xsi:type="dcterms:W3CDTF">2020-07-27T01:08:00Z</dcterms:created>
  <dcterms:modified xsi:type="dcterms:W3CDTF">2026-09-14T01:58:17Z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54354C2E83154BBAB5BAAAE073EFA4B2_13</vt:lpwstr>
  </property>
  <property fmtid="{D5CDD505-2E9C-101B-9397-08002B2CF9AE}" pid="3" name="KSOProductBuildVer">
    <vt:lpwstr>2052-12.1.0.28505</vt:lpwstr>
  </property>
</Properties>
</file>